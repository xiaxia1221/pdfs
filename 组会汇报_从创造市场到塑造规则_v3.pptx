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D6D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093" autoAdjust="0"/>
  </p:normalViewPr>
  <p:slideViewPr>
    <p:cSldViewPr snapToGrid="0" snapToObjects="1">
      <p:cViewPr>
        <p:scale>
          <a:sx n="75" d="100"/>
          <a:sy n="75" d="100"/>
        </p:scale>
        <p:origin x="1440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08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各位老师、各位同学，大家好。今天汇报的题目是"从创造市场到塑造规则：节能服务产业政策工具的演化研究"。内容主要来自我和郑老师最近刚好在写的专著，同时我将结合相关文献进行汇报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先说为什么关注政策。我国节能服务市场有一个很明显的特点：它不是靠市场自发长出来的。（Kostka和Shin在2013年发表于《Energy Policy》的）中国节能服务企业的相关研究中，强调了市场信任和制度条件对节能服务交易的重要性；IEA在2021年关于中国节能服务公司的报告中，也指出政府推动、专业能力建设和商业主体进入对市场形成的决定性作用。
原因主要来自此类交易本身的特征。合同能源管理不同于设备买卖，它覆盖能源诊断、方案设计、项目融资、设备改造、运行维护和节能量测量一套服务链条，而且其中相当一部分收益来自未来才实现的节能量，这就意味着交易双方要在较长的合同期内分担投入、收益和风险。由此市场的发展可以归纳出三类障碍。需求侧：用能单位即使有节能潜力，也未必愿意承担前期投资和收益不确定性。供给侧：节能服务企业要同时具备技术、融资、项目管理和风险承担能力，不少企业容易在资金和信用上出现障碍。交易环境：节能量能否可靠核证、合同责任怎么划分、双方怎么建立信任，决定项目最终能否成交。
针对这三类障碍，政府可以通过目标约束、财政奖励、金融支持、标准规范等工具进行配置。但相关研究也表明，政策不是越多越好，工具之间可能互补，也可能冲突，整套工具组合的重心会随产业成熟而变动，中央形成的总体规划还要经过部门和地方才能落地。所以今天要回答的三个问题是。第一，工具之间怎么协同。第二，政策体系是什么结构，如何演化。第三，这套政策体系如何传播与落地，中央和地方之间有什么差异。（核心点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第一篇文献是Hu等人2023年发表在《Energy Economics》上的文章，题目是 Which combinations of renewable energy policies work better? Insights from policy text synergies in China。
研究对象是中国的可再生能源政策。作者的出发点是：2006年《可再生能源法》实施以来，我国出台了大约8000份相关政策文件，但这些政策针对性不强、时效性不足，尤其缺乏协同。虽然装机增长很快，但装机、输电和消纳之间不协调，弃电问题一直存在。所谓弃电，就是风电、光伏发出来的电，因为送不出去或用不掉，只能放弃不用。
从图上可以看到，2005到2020年各省的相关文件明显增多，但标题明确指向可再生能源的专门政策只占6.1%，绝大多数是在经济发展、产业转型、污染治理等其他政策里一并提出的。这带来两个问题：一是这类非专门政策往往表述笼统、精细度低，容易造成政策冗余和资源浪费；二是研究中如果忽略它们，对政策协同效应的估计就会出现偏差。节能服务产业也有类似的情况，合同能源管理的不少要求是写在节能减排、工业节能这类综合性政策里的，不过这只是我们对政策文本的观察，还没有做过统计。
作者沿用Peters（2015）的定义：政策协同是政策之间的一种协调状态，各项政策要素之间的缺漏、冗余和不一致降到最低，相互配合达到最大。工具组合起来有三种情况：互相增强，是正向协同；互相冲突或重复，是负向协同；互不影响、只是简单叠加，是零交互。已有的文本研究在这里有两个不足：一是常把各工具的得分直接相乘来算协同度，等于默认工具越多协同越强，看不到负向作用；二是多用文件数量或"有没有"来衡量政策，不考虑文件的效力和内容的精细程度，也忽略了大量非专门文件。
所以这篇文章要回答的是：哪些工具组合真正产生了协同，哪些反而相互抵消？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方法上，作者搭了一个三步框架：政策文本量化、关联规则挖掘、协同效应检验。数据是2005—2020年30个省份的可再生能源政策文本，聚焦风电、光伏和生物质，去重后保留7920份。
第一步是文本量化，包括分类和打分。分类以命令控制型和市场型为基础，分成五类：目标规划、运营管理属于命令控制型，产业发展、财政金融支持属于市场型，价格规制兼有两种属性。这里的运营管理，指项目审批、备案、监督、考核这类执行环节的规则；财政金融支持包括补贴、税收优惠和绿色金融。打分上，每份文件里每类工具的强度等于效力乘以精细度：效力看发文形式和发文机关层级，从地方性法规到一般工作文件分五档；精细度看文件对这类工具写得多具体，只提原则、有明确目标或措施、有完整实施细则，分别记1、3、5分。同时，作者把483份专门政策和7437份非专门政策区分开，给非专门政策设0.25到1的权重做敏感性检验。
第二步是关联规则挖掘。五类工具两两及以上的组合有26种，全部放进回归会损失太多自由度，所以先用支持度和置信度，从文本里找出关联最强的组合，也避免研究者主观挑选。最后选出关联最强的三组：运营管理和目标规划、目标规划和产业发展、财政金融支持和产业发展。
第三步是协同效应检验。把这三组做成交互项，放进省级面板的双向固定效应模型，因变量是人均风电、光伏和生物质装机，政策变量分别滞后一期和两期。
注意，共同出现不等于协同有效，有没有协同要看回归里的交互项。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结果分两部分看。
先看描述统计。这里的强度，原文叫policy stringency，由效力和精细度相乘得到：效力（policy strictness）看发文形式和发文机关层级，精细度（policy rigor）看文件对工具写得是否清晰、详细、完整。地方政策里用得最多的是产业发展和目标规划，分别出现在54.2%和46.8%的文件里，但它们的平均强度恰恰最低，只有1.83和1.99；强度最高的是运营管理和价格规制，分别是2.79和2.23，可使用比例只有22.5%和5.9%。也就是说，用得多不等于定得严。
再看回归，也就是哪些工具之间有协同。目标规划和运营管理搭配，是显著的正向协同，而且滞后两期依然显著：目标规划只明确方向，运营管理通过审批、备案、监督、考核把目标落到执行，两者正好互补。目标规划和产业发展搭配，是较弱的正向协同：产业发展政策本身对装机是负向影响，目标规划明确了需求和方向，能缓解这种负面作用。
产业发展和财政金融支持搭配，则是显著的负向协同。作者的解释是：产业发展政策写得越严越细，越容易出现不合理的干预，资源向龙头企业集中；财政金融支持又优先投向这些重点产业和企业，两类激励叠加在同一批对象上，加剧了资源配置不均和市场扭曲，挤压了龙头企业与中小企业、新能源与传统能源之间的竞争。需要说明的是，这是作者对结果的解释，文中并没有用企业层面的数据直接检验这个机制，而且这一负向协同到滞后两期就不显著了。
简单说，命令控制型工具之间配合得好，市场型工具叠在一起反而相互抵消。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回到节能服务产业，上述结论基本可以有所对照。
第一，目标要靠执行规则落地。2006到2007年，"十一五"节能目标分解到地方和企业，并建立了考核体系，释放了改造需求；但行政目标只能提出要求，解决不了资金从哪里来、合同怎么履行。2010年，财政奖励办法把企业备案、项目申报、节能量审核、资金拨付和监督检查串成流程，合同能源管理技术通则统一了项目实施和合同框架，补上了资金和执行环节。此后的2010到2015年，节能责任转化为可以签约、融资和实施的项目，产业进入系统扶持和规模扩张阶段。
第二，市场型工具叠加会造成激励扭曲。2010年的国家财政奖励限定于一定节能量区间内的节能效益分享型项目，部分企业为了取得奖励优先采用这一模式；面向用能单位自行改造的财政奖励，又在一定程度上挤压了对专业节能服务的需求；长期依靠补贴扩大市场，容易形成重复支持和补贴依赖，而地方财政能力不同，还会加剧地区之间的发展差距。
第三，政策体系的完善程度不能只用文件数量衡量。"十二五"以来，合同能源管理多写入节能减排、工业节能和节能环保产业等综合规划，按文献一的口径属于非专门政策。专著也指出，过于统一或更新滞后的规则难以适应新的服务模式，政策方向应从继续填补规则空白转向提高适用性和执行质量。所以做定量研究时，既要区分专门和非专门政策，也要按效力和精细度加权，而不是简单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工具之间怎么配合清楚了，再看整套政策体系是怎么形成和演化的。第二篇是Song等人2024年发表在《Journal of Cleaner Production》上的文章，题目是 From text to effectiveness: Quantifying green industrial policies in China。
先看背景。中国是全球最大的能源消费国，也是最大的碳排放国，这主要来自工业和快速城镇化，以及对煤炭的高度依赖。绿色产业政策从上世纪90年代起步，已经从零散的试探性措施，发展成覆盖多个领域、多个层级的政策体系，对绿色产业的快速发展起了关键作用。作者强调，政策评价是政策制定和管理中最关键的一步，它既能帮助理解政策的设计和实施，也能帮助决策者决定政策是保留、调整还是废止，把有限的资源投到最有效的工具上。
但已有研究有三点不足：一是多从宏观层面评价政策总体效果，很少对单个政策工具做量化分析，也缺少对绿色产业政策工具的分类研究；二是工具分类往往直接套用技术创新等其他领域的现成框架，而不是从政策文本本身聚类归纳；三是评价政策效果多依赖专家打分，主观性强，换成具体的经济指标，不同研究者的选择又会带来较大差异。
所以文章要做三件事：从7891份政策文本里归纳出有哪些工具，量化各类工具的效力，再看1994到2022年工具结构怎么演化。和文献一不同，文献二是从文本出发，核心分析政策体系的特征与重心演化。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方法分两步，对应图里的左右两列。
第一步，用LDA主题模型识别工具。作者用产业、减排、低碳、节能、双碳、绿色等关键词，从北大法宝等数据库检索政策文件，剔除只有关键词、没有具体措施的文件后，保留1994—2022年的7891份。LDA假设每份文件由若干主题混合而成，每个主题对应一组高频词。作者用困惑度和一致性两个指标把主题数定为15个，右边这张小图就是15个主题在二维平面上的分布；再根据特征词，参照Rothwell和Zegveld的政策工具理论命名，得到15种工具，归为供给型、需求型、环境型三类。
第二步，用PMC-TE给工具打分。每份政策按"编号—工具—维度"编码，从九个维度各打1到5分：效力级别、发文机关、是否仍然有效、目标出现次数、强制还是自愿、实施层级、作用对象、有效期和覆盖行业数。九个维度权重相同，分数直接从文本读出，不靠专家，最后按工具汇总成"政策效力"指数。
所以这里的"效力"是文本设计上的完备程度，不是实施后的真实效果，看结果时要记住这一点。
——————————
【答问备用】样本边界较宽。原文 Table 1 列出的样本里，有安徽自贸区条例、城投公司发债的批复、成渝双城经济圈规划纲要等，用"产业、绿色、低碳"这类宽泛关键词检索，难免把不少并非专门针对绿色产业的文件纳进来。被问到样本代表性时可以主动点出这一点，这也是我们自己做节能服务政策文本库时要注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结果可以分三层看。
第一层是工具。15种工具里，技术支持、信息资源建设和示范项目用得最多，效力得分也最高；政府采购、服务外包这类需求拉动工具虽然逐年增加，但使用频次和效力得分仍然偏低，说明市场需求一侧还没有被充分激活。
这里和文献一看起来相反：文献一发现用得最多的工具强度最低，文献二却是用得最多的工具效力最高。原因在于两篇的口径不同：文献一把强度按工具数取了平均，衡量的是单份文件写得多严；文献二没有交代年度效力值怎么跨文件汇总，作者自己也把效力的上升解释为工具种类和数量的增加，所以它的效力里，写得多和写得好没有分开。再加上两篇研究的领域和打分维度不同，这两个结论并不矛盾。
第二层是结构。供给型一直占主导；需求型2004年才出现，此后增长很快，但政府采购、环境标志认证这类工具一直偏弱；环境型长期偏少，2017年以后和供给型一起上升，说明产业成熟以后，目标规划、法规标准这类工具变得和产业供给同样重要。
第三层是阶段。2002年以前是萌芽期，以技术支持和初步的环保措施为主；2003到2015年是成长期，2008年奥运会以后绿色产业受到广泛关注，政策加强供给，推动研发、培养人才，开始回应市场需求，法规标准也逐步完善；2016到2019年是深化期，"十三五"把绿色产业定为战略方向，目标规划、法规标准开始唱主角；2020年以后是完善期，政策更加精细、系统，在加强供给和环境型工具的同时，开始着力激活需求侧。作者把这条主线概括为：从产业布局，到市场响应，再到环境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回到节能服务产业，文献二和专著的关系最直接，它其实就是在绿色产业里验证"不同时期政策重点不同"。
先看节能服务各阶段的政策重点。1998到2003年是机制引入与项目示范，以示范项目和国际援助资金引入合同能源管理机制；2004到2009年是政策探索与市场启动，国家提出推行合同能源管理，"十一五"节能目标分解考核开始释放需求；2010到2015年是系统扶持与规模扩张，建立财政、税收、金融和会计支持框架，按节能量给予财政奖励；2016到2020年是市场化转型与规范发展，取消审核备案，普遍性奖励逐步退出，标准、信用和商业融资的作用上升；2021年以来是双碳导向与综合服务深化，双碳目标约束增强，公共机构能源费用托管和综合能源服务推开。
再和文献二对照，分期几乎对得上：文献二的分界点是2003、2016、2020，专著是2004、2016、2021，基本只差一年，后两个点都对应"十三五""十四五"的切换。专著多出一个2010年：那一年的合同能源管理意见把财税、金融、会计安排系统化，产业进入规模扩张，这是节能服务特有的转折，在文献二里落在成长期中间，看不出来。方向上两边也一致，后期都转向规则和治理。所以行业政策的分期，不能直接套用宏观的分期。
体系的结构和演化清楚了，但体系不会自己形成。是哪些部门在推动，什么内容更容易被后来者采用，一项政策为什么能扩散开？这就是文献三。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两篇讲的是工具和体系本身，但一套政策体系不是一次成形的。一项政策出台以后，会被其他部门、下级政府在后来的文件里引用和沿用，体系就是这样一层层铺开的，这个过程就是政策扩散。专著3.3讲的中央—地方互动，说的也是这个过程。所以第三篇文献要回答的是：什么样的政策更容易扩散开。
文献是Wang和Zhang 2023年发表在《Technological Forecasting and Social Change》上的文章，题目是 The impact of policy collaboration networks and policy topic networks on policy diffusion: Empirical evidence from the energy field。已有研究大多用"是否采纳"来衡量扩散，忽略了扩散的时间维度，近年开始用扩散的速度和程度来刻画。这篇文章用被引次数衡量扩散程度：一份政策被后来的政策、司法案例和研究引用得越多，说明它扩散得越广。
影响扩散的因素，作者从两方面看：一是谁发的，二是讲什么，分别对应两张网。一张是政策协作网络，节点是政府部门，两个部门联合发过文件就连一条线；另一张是政策主题网络，节点是文件里的关键主题，两个主题在同一份文件里出现就连一条线。已有研究对部门这张网讨论得比较多，主题这张网大多只用来描述议题怎么演变，很少拿来解释政策结果，而且两张网并不重合。
所以作者问的是：一份政策的发文部门和它的主题，在各自网络里的位置，会不会影响它扩散的程度？具体有四个假设。第一，关键部门：处在协作网络中心的部门联系更广、更容易获得信息资源，也更有权威，它发的政策更容易被引用。第二，桥梁部门：在互不往来的部门之间牵线的部门，能拿到更多样的信息，但桥搭得太多，信息价值下降，精力也被分散，作者称为"能力陷阱"，所以影响是先升后降的倒U形。第三，核心主题：处在主题网络中心的主题更容易和其他主题组合，相关政策更容易被引用。第四，桥梁主题：连接原本互不相连的主题，组合的潜力更大，政策也更容易被引用；主题不存在精力有限的问题，所以这里没有假设倒U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上，先说清楚变量。因变量是政策的扩散程度，用被引次数衡量，也就是一份政策被后来的政策、司法案例和期刊引用的次数，数据来自北大法宝，统计到2020年。自变量是网络特征，分两组：协作网络里的部门中心性和部门结构洞，主题网络里的主题中心性和主题结构洞。中心性用标准化的度中心性，结构洞用2减去Burt的约束系数，一份文件有几个部门、几个主题，就取平均值。控制变量是联合发文的部门数、部门级别、部门过去五年的发文量、标题长度和正文长度。
数据是2008到2017年的中央能源政策：作者以2008年政府换届为起点取十年，在北大法宝里按标题检索"能源"，只保留法律、行政法规和部门规章三类正式文件，剔除无关文件后留下461份。协作网络按联合发文连线，主题网络用TextRank提取关键词，同一文件里的主题两两连线，两张网都按五年滑动窗口建，每份文件用此前窗口里的网络位置来衡量。
因为被引次数是计数变量，方差又远大于均值，所以用负二项回归。另外，两张网的指标相关性很低，中心性之间是0.226，结构洞之间是0.156，说明两张网确实相互独立，需要分开分析。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结果先看两张网怎么变，再看什么样的政策扩散得广。
部门这张网，十年间参与能源政策的部门越来越多，合作越来越密，但核心部门很稳定：国家能源局、发改委和财政部始终排在前三，2013到2017年环境保护部进入前十。
主题这张网，"能源""电力""政策法规"一直是核心主题。变化最明显的有三处："安全"和"监管"大幅上升，2013到2017年分别排到第三和第四；"生产"新进入前十；"财政政策"则从2008到2012年的第二名跌出了前十。从关键词排名看，中央能源政策的重心从财政扶持更多转向了安全和监管。
回归看的都是政策的被引次数。第一，部门中心性越高，政策的被引次数越多，假设一成立。第二，部门结构洞和被引次数是倒U形关系：部门适度在互不往来的部门之间牵线，被引次数增加；牵线过多，被引次数反而减少，假设二成立。第三，主题中心性越高，被引次数越多，假设三成立。第四，主题结构洞对被引次数没有显著影响，假设四不成立。控制变量里，联合发文的部门越多、部门级别越高，被引次数越多；部门过去发了多少文件，对被引次数没有影响。
所以，部门和主题都影响扩散，但方式不同：部门看的是地位和协调负担，主题看的是是否处在主流议题上。
——————————
【答问备用】讲的时候只讲方向和显著性，不讲效应大小和拐点数值：
- 原文换算效应大小时，把负二项回归的结果直接当成被引次数的变化；假设1那一段还把协作网络误写成主题网络（TN）。
- 原文报告的倒U拐点是1.152，但按全模型系数算约为1.31（17.012÷(2×6.471)），原文给出的各点斜率也和1.31一致。
- 被引次数统计到2020年，2008年的文件比2017年的文件多出好几年被引时间，模型没有控制发布年份，只在稳健性检验里加了一个2013年前后的虚拟变量。
- 主题结构洞的取值很集中（均值1.747，标准差0.114），远不如部门结构洞（均值1.535，标准差0.297）变化大，这可能是它不显著的原因之一，原文没有讨论。
- 电监会从前十里消失，主要是因为2013年机构改革时它的职责并入了新组建的国家能源局，不全是作者说的"绿色转向"；国家能源局发文量从76份增至318份也发生在这次合并之后，解读时要考虑机构调整。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回到节能服务产业，扩散在部门协作和政策主题两方面都有体现。
第一，部门协作，可以从四个方面看。联合发文上，2010年合同能源管理的意见由发改、财政、人民银行、税务四部门共同提出；联合管理上，财政奖励由发改和财政部门共同管理，覆盖备案、申报、审核、拨付、监督全过程；核心部门上，专著的判断是掌握规划和财政资源的部门协同能力更强，这和文献三里发改委、财政部始终处在网络中心是一致的；协调成本上，形式上的联合发文仍可能伴随政策重叠、执行标准不一，这也对应文献三的发现：跨部门协调不是越多越好。
第二，政策主题。从政策内容看，节能服务的主题变化和文献三很像：合同能源管理和节能目标一直是核心主题；2015年前后，国家层面的普遍性奖励逐步退出，财政支持转向重点领域和地方专项；2016年以后，取消审核备案、强化节能审查和重点领域监管、行业信用管理和标准修订成为主线；2021年以后，双碳目标、公共机构能源费用托管和综合能源服务成为新的主题。
所以，节能服务政策依靠发改、财政等核心部门联合推动，政策主题也和中央能源政策一样，从财政扶持逐步转向标准、信用和监管。
——————————
【答问备用】被问到地方差异时：文献三只用了中央正式文件，被引次数又把地方文件、司法案例和期刊引用加在一起，看不出地方怎么响应，作者自己也承认没有区分引用来源。专著3.3.2的例子是，河北更多用行业目标吸引外部服务企业，北京更多用补贴和融资培育本地企业；Ba等（2022, Journal of Cleaner Production）也发现，新能源政策扩散以自上而下为主，并呈现东部、中部、西部依次递减的格局。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最后收一下。
第一个核心观点：政策数量不等于政策作用。文献一发现，用得最多的产业发展和目标规划，强度恰恰最低；命令控制型工具搭配产生正向协同，市场型工具叠加反而负向协同。文献三发现，部门过去发文多少，并不影响它新政策的扩散，跨部门协调过多反而不利于扩散。
第二个核心观点：政策重心会随产业发展而调整。文献二显示，绿色产业政策从产业布局，到市场响应，再到环境治理；文献三显示，中央能源政策的主题从财政政策转向监管和安全；节能服务政策也从示范和目标约束、财政奖励，逐步转向标准、信用和监管。这也是专著第三章的核心判断：政策作用并不随产业成熟而简单退出，而是从"创造市场"转向"塑造市场规则"。
三篇文献对我们后续研究各有借鉴：文献一提供了量化工具强度、检验工具协同的方法，并提醒要区分专门和非专门政策；文献二提供了从文本中识别工具类型、划分政策阶段的方法；文献三提供了从部门协作和政策主题两个维度分析政策扩散的思路。专著第三章现在主要靠制度梳理，下一步可以用课题组已有的央地政策文本库补上定量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以上就是今天的汇报，谢谢各位老师、各位同学，恳请批评指正。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/logo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658368" cy="658368"/>
          </a:xfrm>
          <a:prstGeom prst="rect">
            <a:avLst/>
          </a:prstGeom>
        </p:spPr>
      </p:pic>
      <p:pic>
        <p:nvPicPr>
          <p:cNvPr id="3" name="Image 1" descr="/home/claude/v3/logo_colle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48" y="109728"/>
            <a:ext cx="713232" cy="7132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2697480"/>
            <a:ext cx="12191695" cy="1481328"/>
          </a:xfrm>
          <a:prstGeom prst="rect">
            <a:avLst/>
          </a:prstGeom>
          <a:solidFill>
            <a:srgbClr val="203864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4178808"/>
            <a:ext cx="12191695" cy="182880"/>
          </a:xfrm>
          <a:prstGeom prst="rect">
            <a:avLst/>
          </a:prstGeom>
          <a:solidFill>
            <a:srgbClr val="F9CF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/logo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658368" cy="658368"/>
          </a:xfrm>
          <a:prstGeom prst="rect">
            <a:avLst/>
          </a:prstGeom>
        </p:spPr>
      </p:pic>
      <p:pic>
        <p:nvPicPr>
          <p:cNvPr id="3" name="Image 1" descr="/home/claude/v3/logo_colle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848" y="109728"/>
            <a:ext cx="713232" cy="7132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920240"/>
            <a:ext cx="12191695" cy="2423160"/>
          </a:xfrm>
          <a:prstGeom prst="rect">
            <a:avLst/>
          </a:prstGeom>
          <a:solidFill>
            <a:srgbClr val="203864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4343400"/>
            <a:ext cx="12191695" cy="182880"/>
          </a:xfrm>
          <a:prstGeom prst="rect">
            <a:avLst/>
          </a:prstGeom>
          <a:solidFill>
            <a:srgbClr val="F9CF0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2103120" cy="457200"/>
          </a:xfrm>
          <a:prstGeom prst="rect">
            <a:avLst/>
          </a:prstGeom>
          <a:solidFill>
            <a:srgbClr val="ADB9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697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983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55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67512"/>
            <a:ext cx="12191695" cy="137160"/>
          </a:xfrm>
          <a:prstGeom prst="rect">
            <a:avLst/>
          </a:prstGeom>
          <a:solidFill>
            <a:srgbClr val="44546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697480" y="164592"/>
            <a:ext cx="2103120" cy="457200"/>
          </a:xfrm>
          <a:prstGeom prst="rect">
            <a:avLst/>
          </a:prstGeom>
          <a:solidFill>
            <a:srgbClr val="ADB9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983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55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67512"/>
            <a:ext cx="12191695" cy="137160"/>
          </a:xfrm>
          <a:prstGeom prst="rect">
            <a:avLst/>
          </a:prstGeom>
          <a:solidFill>
            <a:srgbClr val="44546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697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983480" y="164592"/>
            <a:ext cx="2103120" cy="457200"/>
          </a:xfrm>
          <a:prstGeom prst="rect">
            <a:avLst/>
          </a:prstGeom>
          <a:solidFill>
            <a:srgbClr val="ADB9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55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67512"/>
            <a:ext cx="12191695" cy="137160"/>
          </a:xfrm>
          <a:prstGeom prst="rect">
            <a:avLst/>
          </a:prstGeom>
          <a:solidFill>
            <a:srgbClr val="44546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697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983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2103120" cy="457200"/>
          </a:xfrm>
          <a:prstGeom prst="rect">
            <a:avLst/>
          </a:prstGeom>
          <a:solidFill>
            <a:srgbClr val="ADB9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55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67512"/>
            <a:ext cx="12191695" cy="137160"/>
          </a:xfrm>
          <a:prstGeom prst="rect">
            <a:avLst/>
          </a:prstGeom>
          <a:solidFill>
            <a:srgbClr val="44546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697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983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21031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55480" y="164592"/>
            <a:ext cx="2103120" cy="457200"/>
          </a:xfrm>
          <a:prstGeom prst="rect">
            <a:avLst/>
          </a:prstGeom>
          <a:solidFill>
            <a:srgbClr val="ADB9C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67512"/>
            <a:ext cx="12191695" cy="137160"/>
          </a:xfrm>
          <a:prstGeom prst="rect">
            <a:avLst/>
          </a:prstGeom>
          <a:solidFill>
            <a:srgbClr val="44546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3/logo_colle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77724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" y="685800"/>
            <a:ext cx="11231575" cy="137160"/>
          </a:xfrm>
          <a:prstGeom prst="rect">
            <a:avLst/>
          </a:prstGeom>
          <a:solidFill>
            <a:srgbClr val="44546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457200" y="2697480"/>
            <a:ext cx="11277295" cy="14813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从创造市场到塑造规则：</a:t>
            </a:r>
            <a:endParaRPr lang="en-US" sz="3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节能服务产业政策工具的演化研究</a:t>
            </a:r>
            <a:endParaRPr lang="en-US" sz="3800" dirty="0"/>
          </a:p>
        </p:txBody>
      </p:sp>
      <p:sp>
        <p:nvSpPr>
          <p:cNvPr id="3" name="text_2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汇报人：夏昆仑</a:t>
            </a:r>
            <a:endParaRPr lang="en-US" sz="2000" dirty="0"/>
          </a:p>
        </p:txBody>
      </p:sp>
      <p:sp>
        <p:nvSpPr>
          <p:cNvPr id="4" name="text_3"/>
          <p:cNvSpPr txBox="1"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2026/10/20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4"/>
          <p:cNvSpPr/>
          <p:nvPr/>
        </p:nvSpPr>
        <p:spPr>
          <a:xfrm>
            <a:off x="411480" y="1005839"/>
            <a:ext cx="8147304" cy="2191233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5"/>
          <p:cNvSpPr txBox="1"/>
          <p:nvPr/>
        </p:nvSpPr>
        <p:spPr>
          <a:xfrm>
            <a:off x="502920" y="1078992"/>
            <a:ext cx="6309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研究背景：</a:t>
            </a:r>
            <a:endParaRPr lang="en-US" sz="2000" dirty="0"/>
          </a:p>
        </p:txBody>
      </p:sp>
      <p:sp>
        <p:nvSpPr>
          <p:cNvPr id="4" name="text_6"/>
          <p:cNvSpPr txBox="1"/>
          <p:nvPr/>
        </p:nvSpPr>
        <p:spPr>
          <a:xfrm>
            <a:off x="502920" y="1508760"/>
            <a:ext cx="7964424" cy="1386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节能服务市场不是靠市场自发产生的：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合同能源管理覆盖诊断、设计、融资、改造、运维、节能量测量的整条服务链，且收益来自未来的节能量，双方要在较长合同期内分担投入、收益与风险；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市场信任和制度条件决定交易能否发生（Kostka &amp; Shin, 2013）；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政府推动、专业能力建设对市场建设起决定性作用（IEA, 2021）。</a:t>
            </a:r>
            <a:endParaRPr lang="en-US" sz="1600" dirty="0"/>
          </a:p>
        </p:txBody>
      </p:sp>
      <p:sp>
        <p:nvSpPr>
          <p:cNvPr id="5" name="shape_7"/>
          <p:cNvSpPr/>
          <p:nvPr/>
        </p:nvSpPr>
        <p:spPr>
          <a:xfrm>
            <a:off x="411480" y="3299374"/>
            <a:ext cx="8147304" cy="1517904"/>
          </a:xfrm>
          <a:prstGeom prst="rect">
            <a:avLst/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6" name="text_8"/>
          <p:cNvSpPr txBox="1"/>
          <p:nvPr/>
        </p:nvSpPr>
        <p:spPr>
          <a:xfrm>
            <a:off x="502920" y="3354238"/>
            <a:ext cx="6309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市场发展的障碍：</a:t>
            </a:r>
            <a:endParaRPr lang="en-US" sz="2000" dirty="0"/>
          </a:p>
        </p:txBody>
      </p:sp>
      <p:sp>
        <p:nvSpPr>
          <p:cNvPr id="7" name="text_9"/>
          <p:cNvSpPr txBox="1"/>
          <p:nvPr/>
        </p:nvSpPr>
        <p:spPr>
          <a:xfrm>
            <a:off x="502920" y="3784006"/>
            <a:ext cx="7964424" cy="932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需求侧：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用能单位未必愿意承担前期投资和收益不确定性；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供给侧：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企业需兼具技术、融资、管理与风险承担能力，常卡在资金和信用上；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交易环境：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节能量能否可靠核证、责任如何划分、信任如何建立。</a:t>
            </a:r>
            <a:endParaRPr lang="en-US" sz="1600" dirty="0"/>
          </a:p>
        </p:txBody>
      </p:sp>
      <p:pic>
        <p:nvPicPr>
          <p:cNvPr id="8" name="photo_10" descr="/home/claude/deco/deco_retrof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1005840"/>
            <a:ext cx="3035808" cy="1719072"/>
          </a:xfrm>
          <a:prstGeom prst="rect">
            <a:avLst/>
          </a:prstGeom>
        </p:spPr>
      </p:pic>
      <p:pic>
        <p:nvPicPr>
          <p:cNvPr id="9" name="photo_11" descr="/home/claude/deco/deco_boil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2906182"/>
            <a:ext cx="3035808" cy="1719072"/>
          </a:xfrm>
          <a:prstGeom prst="rect">
            <a:avLst/>
          </a:prstGeom>
        </p:spPr>
      </p:pic>
      <p:sp>
        <p:nvSpPr>
          <p:cNvPr id="10" name="shape_12"/>
          <p:cNvSpPr/>
          <p:nvPr/>
        </p:nvSpPr>
        <p:spPr>
          <a:xfrm>
            <a:off x="411480" y="4943582"/>
            <a:ext cx="11384280" cy="822960"/>
          </a:xfrm>
          <a:prstGeom prst="roundRect">
            <a:avLst>
              <a:gd name="adj" fmla="val 8889"/>
            </a:avLst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11" name="text_13"/>
          <p:cNvSpPr txBox="1"/>
          <p:nvPr/>
        </p:nvSpPr>
        <p:spPr>
          <a:xfrm>
            <a:off x="484632" y="4998446"/>
            <a:ext cx="11237976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可以通过目标约束、财政奖励、金融支持、标准规范等工具解决这些障碍，但政策不是越多越好：工具之间可能互补，也可能冲突；治理重心会随产业发展而变动；形成的政策体系还要经过部门和地方才能落地。</a:t>
            </a:r>
            <a:endParaRPr lang="en-US" sz="1400" dirty="0"/>
          </a:p>
        </p:txBody>
      </p:sp>
      <p:sp>
        <p:nvSpPr>
          <p:cNvPr id="12" name="shape_14"/>
          <p:cNvSpPr/>
          <p:nvPr/>
        </p:nvSpPr>
        <p:spPr>
          <a:xfrm>
            <a:off x="411480" y="5894558"/>
            <a:ext cx="3685032" cy="548640"/>
          </a:xfrm>
          <a:prstGeom prst="roundRect">
            <a:avLst>
              <a:gd name="adj" fmla="val 13333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3" name="text_15"/>
          <p:cNvSpPr txBox="1"/>
          <p:nvPr/>
        </p:nvSpPr>
        <p:spPr>
          <a:xfrm>
            <a:off x="484632" y="5949422"/>
            <a:ext cx="353872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问题一：工具之间能否协同</a:t>
            </a:r>
            <a:endParaRPr lang="en-US" sz="1400" dirty="0"/>
          </a:p>
        </p:txBody>
      </p:sp>
      <p:sp>
        <p:nvSpPr>
          <p:cNvPr id="14" name="shape_16"/>
          <p:cNvSpPr/>
          <p:nvPr/>
        </p:nvSpPr>
        <p:spPr>
          <a:xfrm>
            <a:off x="4261104" y="5894558"/>
            <a:ext cx="3685032" cy="548640"/>
          </a:xfrm>
          <a:prstGeom prst="roundRect">
            <a:avLst>
              <a:gd name="adj" fmla="val 13333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5" name="text_17"/>
          <p:cNvSpPr txBox="1"/>
          <p:nvPr/>
        </p:nvSpPr>
        <p:spPr>
          <a:xfrm>
            <a:off x="4334256" y="5949422"/>
            <a:ext cx="353872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问题二：政策体系是什么结构、如何演化</a:t>
            </a:r>
            <a:endParaRPr lang="en-US" sz="1400" dirty="0"/>
          </a:p>
        </p:txBody>
      </p:sp>
      <p:sp>
        <p:nvSpPr>
          <p:cNvPr id="16" name="shape_18"/>
          <p:cNvSpPr/>
          <p:nvPr/>
        </p:nvSpPr>
        <p:spPr>
          <a:xfrm>
            <a:off x="8110728" y="5894558"/>
            <a:ext cx="3685032" cy="548640"/>
          </a:xfrm>
          <a:prstGeom prst="roundRect">
            <a:avLst>
              <a:gd name="adj" fmla="val 13333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7" name="text_19"/>
          <p:cNvSpPr txBox="1"/>
          <p:nvPr/>
        </p:nvSpPr>
        <p:spPr>
          <a:xfrm>
            <a:off x="8183880" y="5949422"/>
            <a:ext cx="353872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问题三：政策如何传播与落地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_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11274552" cy="694944"/>
        </p:xfrm>
        <a:graphic>
          <a:graphicData uri="http://schemas.openxmlformats.org/drawingml/2006/table">
            <a:tbl>
              <a:tblPr/>
              <a:tblGrid>
                <a:gridCol w="768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ENERGY ECONOMICS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14.2/Q1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Which combinations of renewable energy policies work better? Insights from policy text synergies in China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hape_21"/>
          <p:cNvSpPr/>
          <p:nvPr/>
        </p:nvSpPr>
        <p:spPr>
          <a:xfrm>
            <a:off x="411480" y="1783080"/>
            <a:ext cx="6492240" cy="146304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" name="text_22"/>
          <p:cNvSpPr txBox="1"/>
          <p:nvPr/>
        </p:nvSpPr>
        <p:spPr>
          <a:xfrm>
            <a:off x="502920" y="1856232"/>
            <a:ext cx="6309360" cy="4114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研究背景</a:t>
            </a:r>
            <a:endParaRPr lang="en-US" sz="2000" dirty="0"/>
          </a:p>
        </p:txBody>
      </p:sp>
      <p:sp>
        <p:nvSpPr>
          <p:cNvPr id="5" name="text_23"/>
          <p:cNvSpPr txBox="1"/>
          <p:nvPr/>
        </p:nvSpPr>
        <p:spPr>
          <a:xfrm>
            <a:off x="502920" y="2286000"/>
            <a:ext cx="640080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《可再生能源法》（2006）实施以来，我国出台了约8000份相关政策，但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仍存在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针对性、时效性不足，尤其缺乏协同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虽然装机增长快，但装机、输电、消纳发展不协调，弃电问题一直存在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00" dirty="0"/>
          </a:p>
        </p:txBody>
      </p:sp>
      <p:sp>
        <p:nvSpPr>
          <p:cNvPr id="6" name="shape_24"/>
          <p:cNvSpPr/>
          <p:nvPr/>
        </p:nvSpPr>
        <p:spPr>
          <a:xfrm>
            <a:off x="411480" y="3364991"/>
            <a:ext cx="6492240" cy="3025649"/>
          </a:xfrm>
          <a:prstGeom prst="rect">
            <a:avLst/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7" name="text_25"/>
          <p:cNvSpPr txBox="1"/>
          <p:nvPr/>
        </p:nvSpPr>
        <p:spPr>
          <a:xfrm>
            <a:off x="502920" y="3438144"/>
            <a:ext cx="4533424" cy="4114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研究问题</a:t>
            </a:r>
            <a:endParaRPr lang="en-US" sz="2000" dirty="0"/>
          </a:p>
        </p:txBody>
      </p:sp>
      <p:sp>
        <p:nvSpPr>
          <p:cNvPr id="8" name="text_26"/>
          <p:cNvSpPr txBox="1"/>
          <p:nvPr/>
        </p:nvSpPr>
        <p:spPr>
          <a:xfrm>
            <a:off x="502920" y="3867912"/>
            <a:ext cx="6309360" cy="20939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协同（Peters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, 2015）：政策要素之间的缺漏、冗余和不一致最小、相互配合最大；组合可能正向协同、负向协同或零交互；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已有研究不足：① </a:t>
            </a:r>
            <a:r>
              <a:rPr lang="en-US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默认工具</a:t>
            </a:r>
            <a:r>
              <a:rPr lang="zh-CN" alt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出现</a:t>
            </a:r>
            <a:r>
              <a:rPr lang="en-US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越多</a:t>
            </a:r>
            <a:r>
              <a:rPr lang="zh-CN" alt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效力</a:t>
            </a:r>
            <a:r>
              <a:rPr lang="en-US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越强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；② </a:t>
            </a:r>
            <a:r>
              <a:rPr lang="en-US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只分析文件有无或文件数</a:t>
            </a:r>
            <a:r>
              <a:rPr lang="zh-CN" alt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量多少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，忽略效力、精细度和非专门文件；</a:t>
            </a:r>
            <a:endParaRPr lang="en-US" sz="14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300" b="1" dirty="0" err="1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研究问题：哪些工具组合真正产生了协同，哪些反而相互抵消</a:t>
            </a:r>
            <a:r>
              <a:rPr lang="en-US" sz="1300" b="1" dirty="0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？</a:t>
            </a:r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专门面向可再生能源的政策只占6.1%，</a:t>
            </a:r>
            <a:r>
              <a:rPr lang="zh-CN" alt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其余</a:t>
            </a:r>
            <a:r>
              <a:rPr lang="en-US" altLang="zh-CN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多数</a:t>
            </a:r>
            <a:r>
              <a:rPr lang="zh-CN" alt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政策都</a:t>
            </a:r>
            <a:r>
              <a:rPr lang="en-US" altLang="zh-CN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是在经济发展、产业转型、污染治理等政策里一并提出的</a:t>
            </a:r>
            <a:r>
              <a:rPr lang="en-US" altLang="zh-CN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altLang="zh-CN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这类非专门政策表述笼统、精细度低，容易造成政策冗余</a:t>
            </a:r>
            <a:r>
              <a:rPr lang="zh-CN" alt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，但</a:t>
            </a:r>
            <a:r>
              <a:rPr lang="en-US" altLang="zh-CN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研究中若忽略它们，协同效应估计</a:t>
            </a:r>
            <a:r>
              <a:rPr lang="zh-CN" alt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又</a:t>
            </a:r>
            <a:r>
              <a:rPr lang="en-US" altLang="zh-CN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会有</a:t>
            </a:r>
            <a:r>
              <a:rPr lang="zh-CN" alt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</a:t>
            </a:r>
            <a:r>
              <a:rPr lang="en-US" altLang="zh-CN" sz="13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偏差</a:t>
            </a:r>
            <a:r>
              <a:rPr lang="en-US" altLang="zh-CN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altLang="zh-CN" sz="14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endParaRPr lang="en-US" sz="1300" b="1" dirty="0">
              <a:solidFill>
                <a:srgbClr val="203864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endParaRPr lang="en-US" sz="1400" dirty="0"/>
          </a:p>
        </p:txBody>
      </p:sp>
      <p:pic>
        <p:nvPicPr>
          <p:cNvPr id="9" name="figure_2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5160" y="1783080"/>
            <a:ext cx="4839550" cy="3388995"/>
          </a:xfrm>
          <a:prstGeom prst="rect">
            <a:avLst/>
          </a:prstGeom>
        </p:spPr>
      </p:pic>
      <p:sp>
        <p:nvSpPr>
          <p:cNvPr id="10" name="text_28"/>
          <p:cNvSpPr txBox="1"/>
          <p:nvPr/>
        </p:nvSpPr>
        <p:spPr>
          <a:xfrm>
            <a:off x="7136405" y="5372429"/>
            <a:ext cx="4645152" cy="274320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各省政策文本数量（蓝柱多工具文件，橙柱专门政策，灰点总数）</a:t>
            </a:r>
            <a:endParaRPr lang="en-US" sz="1100" dirty="0"/>
          </a:p>
        </p:txBody>
      </p:sp>
      <p:sp>
        <p:nvSpPr>
          <p:cNvPr id="11" name="text_29"/>
          <p:cNvSpPr txBox="1"/>
          <p:nvPr/>
        </p:nvSpPr>
        <p:spPr>
          <a:xfrm>
            <a:off x="7136405" y="5646749"/>
            <a:ext cx="4645152" cy="274320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图源：Hu et al. (2023), Fig. 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30"/>
          <p:cNvSpPr/>
          <p:nvPr/>
        </p:nvSpPr>
        <p:spPr>
          <a:xfrm>
            <a:off x="365760" y="987552"/>
            <a:ext cx="11457432" cy="56692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31"/>
          <p:cNvSpPr txBox="1"/>
          <p:nvPr/>
        </p:nvSpPr>
        <p:spPr>
          <a:xfrm>
            <a:off x="457200" y="1024128"/>
            <a:ext cx="768096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研究方法：文本量化、关联规则挖掘与协同效应检验</a:t>
            </a:r>
            <a:endParaRPr lang="en-US" sz="2000" dirty="0"/>
          </a:p>
        </p:txBody>
      </p:sp>
      <p:sp>
        <p:nvSpPr>
          <p:cNvPr id="4" name="text_32"/>
          <p:cNvSpPr txBox="1"/>
          <p:nvPr/>
        </p:nvSpPr>
        <p:spPr>
          <a:xfrm>
            <a:off x="8229600" y="1024128"/>
            <a:ext cx="3502152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2005—2020年｜30个省份｜7920份文本</a:t>
            </a:r>
            <a:endParaRPr lang="en-US" sz="1300" dirty="0"/>
          </a:p>
        </p:txBody>
      </p:sp>
      <p:pic>
        <p:nvPicPr>
          <p:cNvPr id="5" name="figure_33" descr="/home/claude/figs/Hu2023_Fig1_frame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37360"/>
            <a:ext cx="7543800" cy="2395307"/>
          </a:xfrm>
          <a:prstGeom prst="rect">
            <a:avLst/>
          </a:prstGeom>
        </p:spPr>
      </p:pic>
      <p:sp>
        <p:nvSpPr>
          <p:cNvPr id="6" name="text_34"/>
          <p:cNvSpPr txBox="1"/>
          <p:nvPr/>
        </p:nvSpPr>
        <p:spPr>
          <a:xfrm>
            <a:off x="411480" y="4178387"/>
            <a:ext cx="7543800" cy="292608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研究框架｜图源：Hu et al. (2023), Fig. 1</a:t>
            </a:r>
            <a:endParaRPr lang="en-US" sz="1100" dirty="0"/>
          </a:p>
        </p:txBody>
      </p:sp>
      <p:pic>
        <p:nvPicPr>
          <p:cNvPr id="7" name="figure_35" descr="/home/claude/figs/Hu2023_Fig5b_ru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166" y="1737360"/>
            <a:ext cx="2244749" cy="2395728"/>
          </a:xfrm>
          <a:prstGeom prst="rect">
            <a:avLst/>
          </a:prstGeom>
        </p:spPr>
      </p:pic>
      <p:sp>
        <p:nvSpPr>
          <p:cNvPr id="8" name="text_36"/>
          <p:cNvSpPr txBox="1"/>
          <p:nvPr/>
        </p:nvSpPr>
        <p:spPr>
          <a:xfrm>
            <a:off x="8138160" y="4169664"/>
            <a:ext cx="3685032" cy="438912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关联最强的三条规则（蓝字为置信度）：A目标规划 B产业发展 C财政金融支持 D价格规制 E运营管理</a:t>
            </a:r>
            <a:endParaRPr lang="en-US" sz="1100" dirty="0"/>
          </a:p>
        </p:txBody>
      </p:sp>
      <p:sp>
        <p:nvSpPr>
          <p:cNvPr id="9" name="shape_37"/>
          <p:cNvSpPr/>
          <p:nvPr/>
        </p:nvSpPr>
        <p:spPr>
          <a:xfrm>
            <a:off x="411480" y="4645152"/>
            <a:ext cx="3547872" cy="1600200"/>
          </a:xfrm>
          <a:prstGeom prst="roundRect">
            <a:avLst>
              <a:gd name="adj" fmla="val 4571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0" name="text_38"/>
          <p:cNvSpPr txBox="1"/>
          <p:nvPr/>
        </p:nvSpPr>
        <p:spPr>
          <a:xfrm>
            <a:off x="484632" y="4700016"/>
            <a:ext cx="3401568" cy="1490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政策文本量化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五类工具，分命令控制型与市场型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强度＝效力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机关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层级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）×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精细度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600" dirty="0"/>
          </a:p>
        </p:txBody>
      </p:sp>
      <p:sp>
        <p:nvSpPr>
          <p:cNvPr id="11" name="arrow_39"/>
          <p:cNvSpPr/>
          <p:nvPr/>
        </p:nvSpPr>
        <p:spPr>
          <a:xfrm>
            <a:off x="3995928" y="5303520"/>
            <a:ext cx="237744" cy="274320"/>
          </a:xfrm>
          <a:prstGeom prst="rightArrow">
            <a:avLst/>
          </a:prstGeom>
          <a:solidFill>
            <a:srgbClr val="8497B0"/>
          </a:solidFill>
          <a:ln w="12700">
            <a:solidFill>
              <a:srgbClr val="8497B0"/>
            </a:solidFill>
            <a:prstDash val="solid"/>
          </a:ln>
        </p:spPr>
      </p:sp>
      <p:sp>
        <p:nvSpPr>
          <p:cNvPr id="12" name="shape_40"/>
          <p:cNvSpPr/>
          <p:nvPr/>
        </p:nvSpPr>
        <p:spPr>
          <a:xfrm>
            <a:off x="4270248" y="4645152"/>
            <a:ext cx="3547872" cy="1600200"/>
          </a:xfrm>
          <a:prstGeom prst="roundRect">
            <a:avLst>
              <a:gd name="adj" fmla="val 4571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3" name="text_41"/>
          <p:cNvSpPr txBox="1"/>
          <p:nvPr/>
        </p:nvSpPr>
        <p:spPr>
          <a:xfrm>
            <a:off x="4343400" y="4700016"/>
            <a:ext cx="3401568" cy="1490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关联规则挖掘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五类工具共26种组合，用置信度选出关联最强的三组：运营管理与目标规划、目标规划与产业发展、财政金融支持与产业发展</a:t>
            </a:r>
            <a:endParaRPr lang="en-US" dirty="0"/>
          </a:p>
        </p:txBody>
      </p:sp>
      <p:sp>
        <p:nvSpPr>
          <p:cNvPr id="14" name="arrow_42"/>
          <p:cNvSpPr/>
          <p:nvPr/>
        </p:nvSpPr>
        <p:spPr>
          <a:xfrm>
            <a:off x="7854696" y="5303520"/>
            <a:ext cx="237744" cy="274320"/>
          </a:xfrm>
          <a:prstGeom prst="rightArrow">
            <a:avLst/>
          </a:prstGeom>
          <a:solidFill>
            <a:srgbClr val="8497B0"/>
          </a:solidFill>
          <a:ln w="12700">
            <a:solidFill>
              <a:srgbClr val="8497B0"/>
            </a:solidFill>
            <a:prstDash val="solid"/>
          </a:ln>
        </p:spPr>
      </p:sp>
      <p:sp>
        <p:nvSpPr>
          <p:cNvPr id="15" name="shape_43"/>
          <p:cNvSpPr/>
          <p:nvPr/>
        </p:nvSpPr>
        <p:spPr>
          <a:xfrm>
            <a:off x="8129016" y="4645152"/>
            <a:ext cx="3547872" cy="1600200"/>
          </a:xfrm>
          <a:prstGeom prst="roundRect">
            <a:avLst>
              <a:gd name="adj" fmla="val 4571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6" name="text_44"/>
          <p:cNvSpPr txBox="1"/>
          <p:nvPr/>
        </p:nvSpPr>
        <p:spPr>
          <a:xfrm>
            <a:off x="8202168" y="4700016"/>
            <a:ext cx="3401568" cy="1490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协同效应检验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省级双向固定效应模型回归；因变量为人均装机量，政策变量滞后一期和两期；检验常一起出现的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</a:t>
            </a:r>
            <a:r>
              <a:rPr lang="en-US" altLang="zh-CN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交互项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是否真正产生协同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45"/>
          <p:cNvSpPr/>
          <p:nvPr/>
        </p:nvSpPr>
        <p:spPr>
          <a:xfrm>
            <a:off x="365760" y="987552"/>
            <a:ext cx="11457432" cy="56692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46"/>
          <p:cNvSpPr txBox="1"/>
          <p:nvPr/>
        </p:nvSpPr>
        <p:spPr>
          <a:xfrm>
            <a:off x="457200" y="1024128"/>
            <a:ext cx="112471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1.4 研究结果</a:t>
            </a:r>
            <a:endParaRPr lang="en-US" sz="2000" dirty="0"/>
          </a:p>
        </p:txBody>
      </p:sp>
      <p:sp>
        <p:nvSpPr>
          <p:cNvPr id="4" name="text_47"/>
          <p:cNvSpPr txBox="1"/>
          <p:nvPr/>
        </p:nvSpPr>
        <p:spPr>
          <a:xfrm>
            <a:off x="411480" y="16916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使用比例与政策强度</a:t>
            </a:r>
            <a:endParaRPr lang="en-US" sz="1600" dirty="0"/>
          </a:p>
        </p:txBody>
      </p:sp>
      <p:sp>
        <p:nvSpPr>
          <p:cNvPr id="5" name="shape_48"/>
          <p:cNvSpPr/>
          <p:nvPr/>
        </p:nvSpPr>
        <p:spPr>
          <a:xfrm>
            <a:off x="411480" y="2148840"/>
            <a:ext cx="2176272" cy="1234440"/>
          </a:xfrm>
          <a:prstGeom prst="roundRect">
            <a:avLst>
              <a:gd name="adj" fmla="val 5926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6" name="text_49"/>
          <p:cNvSpPr txBox="1"/>
          <p:nvPr/>
        </p:nvSpPr>
        <p:spPr>
          <a:xfrm>
            <a:off x="457200" y="2176272"/>
            <a:ext cx="2084832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产业发展</a:t>
            </a:r>
            <a:endParaRPr lang="en-US" sz="1400" dirty="0"/>
          </a:p>
        </p:txBody>
      </p:sp>
      <p:sp>
        <p:nvSpPr>
          <p:cNvPr id="7" name="text_50"/>
          <p:cNvSpPr txBox="1"/>
          <p:nvPr/>
        </p:nvSpPr>
        <p:spPr>
          <a:xfrm>
            <a:off x="457200" y="2478024"/>
            <a:ext cx="2084832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20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频率</a:t>
            </a:r>
            <a:r>
              <a:rPr lang="en-US" sz="2800" b="1" dirty="0">
                <a:solidFill>
                  <a:srgbClr val="20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54.2%</a:t>
            </a:r>
            <a:endParaRPr lang="en-US" sz="2800" dirty="0"/>
          </a:p>
        </p:txBody>
      </p:sp>
      <p:sp>
        <p:nvSpPr>
          <p:cNvPr id="8" name="text_51"/>
          <p:cNvSpPr txBox="1"/>
          <p:nvPr/>
        </p:nvSpPr>
        <p:spPr>
          <a:xfrm>
            <a:off x="457200" y="2971800"/>
            <a:ext cx="2084832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使用最多</a:t>
            </a: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</a:t>
            </a:r>
            <a:r>
              <a:rPr lang="en-US" sz="12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强度最低</a:t>
            </a:r>
            <a:r>
              <a:rPr lang="zh-CN" alt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</a:t>
            </a: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1.83</a:t>
            </a:r>
            <a:endParaRPr lang="en-US" sz="1200" dirty="0"/>
          </a:p>
        </p:txBody>
      </p:sp>
      <p:sp>
        <p:nvSpPr>
          <p:cNvPr id="9" name="shape_52"/>
          <p:cNvSpPr/>
          <p:nvPr/>
        </p:nvSpPr>
        <p:spPr>
          <a:xfrm>
            <a:off x="2697480" y="2148840"/>
            <a:ext cx="2176272" cy="1234440"/>
          </a:xfrm>
          <a:prstGeom prst="roundRect">
            <a:avLst>
              <a:gd name="adj" fmla="val 5926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0" name="text_53"/>
          <p:cNvSpPr txBox="1"/>
          <p:nvPr/>
        </p:nvSpPr>
        <p:spPr>
          <a:xfrm>
            <a:off x="2743200" y="2176272"/>
            <a:ext cx="2084832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目标规划</a:t>
            </a:r>
            <a:endParaRPr lang="en-US" sz="1400" dirty="0"/>
          </a:p>
        </p:txBody>
      </p:sp>
      <p:sp>
        <p:nvSpPr>
          <p:cNvPr id="11" name="text_54"/>
          <p:cNvSpPr txBox="1"/>
          <p:nvPr/>
        </p:nvSpPr>
        <p:spPr>
          <a:xfrm>
            <a:off x="2743200" y="2478024"/>
            <a:ext cx="2084832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20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频率</a:t>
            </a:r>
            <a:r>
              <a:rPr lang="en-US" sz="2800" b="1" dirty="0">
                <a:solidFill>
                  <a:srgbClr val="20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46.8%</a:t>
            </a:r>
            <a:endParaRPr lang="en-US" sz="2800" dirty="0"/>
          </a:p>
        </p:txBody>
      </p:sp>
      <p:sp>
        <p:nvSpPr>
          <p:cNvPr id="12" name="text_55"/>
          <p:cNvSpPr txBox="1"/>
          <p:nvPr/>
        </p:nvSpPr>
        <p:spPr>
          <a:xfrm>
            <a:off x="2743200" y="2971800"/>
            <a:ext cx="2084832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使用第二，强度1.99</a:t>
            </a:r>
            <a:endParaRPr lang="en-US" sz="1200" dirty="0"/>
          </a:p>
        </p:txBody>
      </p:sp>
      <p:sp>
        <p:nvSpPr>
          <p:cNvPr id="13" name="shape_56"/>
          <p:cNvSpPr/>
          <p:nvPr/>
        </p:nvSpPr>
        <p:spPr>
          <a:xfrm>
            <a:off x="411480" y="3493008"/>
            <a:ext cx="2176272" cy="1234440"/>
          </a:xfrm>
          <a:prstGeom prst="roundRect">
            <a:avLst>
              <a:gd name="adj" fmla="val 5926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4" name="text_57"/>
          <p:cNvSpPr txBox="1"/>
          <p:nvPr/>
        </p:nvSpPr>
        <p:spPr>
          <a:xfrm>
            <a:off x="457200" y="3520440"/>
            <a:ext cx="2084832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运营管理</a:t>
            </a:r>
            <a:endParaRPr lang="en-US" sz="1400" dirty="0"/>
          </a:p>
        </p:txBody>
      </p:sp>
      <p:sp>
        <p:nvSpPr>
          <p:cNvPr id="15" name="text_58"/>
          <p:cNvSpPr txBox="1"/>
          <p:nvPr/>
        </p:nvSpPr>
        <p:spPr>
          <a:xfrm>
            <a:off x="457200" y="3822192"/>
            <a:ext cx="2084832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20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强度</a:t>
            </a:r>
            <a:r>
              <a:rPr lang="en-US" sz="2800" b="1" dirty="0">
                <a:solidFill>
                  <a:srgbClr val="20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2.79</a:t>
            </a:r>
            <a:endParaRPr lang="en-US" sz="2800" dirty="0"/>
          </a:p>
        </p:txBody>
      </p:sp>
      <p:sp>
        <p:nvSpPr>
          <p:cNvPr id="16" name="text_59"/>
          <p:cNvSpPr txBox="1"/>
          <p:nvPr/>
        </p:nvSpPr>
        <p:spPr>
          <a:xfrm>
            <a:off x="457200" y="4315968"/>
            <a:ext cx="2084832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强度最高，使用22.5%</a:t>
            </a:r>
            <a:endParaRPr lang="en-US" sz="1200" dirty="0"/>
          </a:p>
        </p:txBody>
      </p:sp>
      <p:sp>
        <p:nvSpPr>
          <p:cNvPr id="17" name="shape_60"/>
          <p:cNvSpPr/>
          <p:nvPr/>
        </p:nvSpPr>
        <p:spPr>
          <a:xfrm>
            <a:off x="2697480" y="3493008"/>
            <a:ext cx="2176272" cy="1234440"/>
          </a:xfrm>
          <a:prstGeom prst="roundRect">
            <a:avLst>
              <a:gd name="adj" fmla="val 5926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8" name="text_61"/>
          <p:cNvSpPr txBox="1"/>
          <p:nvPr/>
        </p:nvSpPr>
        <p:spPr>
          <a:xfrm>
            <a:off x="2743200" y="3520440"/>
            <a:ext cx="2084832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价格规制</a:t>
            </a:r>
            <a:endParaRPr lang="en-US" sz="1400" dirty="0"/>
          </a:p>
        </p:txBody>
      </p:sp>
      <p:sp>
        <p:nvSpPr>
          <p:cNvPr id="19" name="text_62"/>
          <p:cNvSpPr txBox="1"/>
          <p:nvPr/>
        </p:nvSpPr>
        <p:spPr>
          <a:xfrm>
            <a:off x="2743200" y="3822192"/>
            <a:ext cx="2084832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20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强度</a:t>
            </a:r>
            <a:r>
              <a:rPr lang="en-US" sz="2800" b="1" dirty="0">
                <a:solidFill>
                  <a:srgbClr val="20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2.23</a:t>
            </a:r>
            <a:endParaRPr lang="en-US" sz="2800" dirty="0"/>
          </a:p>
        </p:txBody>
      </p:sp>
      <p:sp>
        <p:nvSpPr>
          <p:cNvPr id="20" name="text_63"/>
          <p:cNvSpPr txBox="1"/>
          <p:nvPr/>
        </p:nvSpPr>
        <p:spPr>
          <a:xfrm>
            <a:off x="2743200" y="4315968"/>
            <a:ext cx="2084832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强度第二，使用5.9%</a:t>
            </a:r>
            <a:endParaRPr lang="en-US" sz="1200" dirty="0"/>
          </a:p>
        </p:txBody>
      </p:sp>
      <p:sp>
        <p:nvSpPr>
          <p:cNvPr id="21" name="text_64"/>
          <p:cNvSpPr txBox="1"/>
          <p:nvPr/>
        </p:nvSpPr>
        <p:spPr>
          <a:xfrm>
            <a:off x="411480" y="4828032"/>
            <a:ext cx="4526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用得最多的工具，强度</a:t>
            </a:r>
            <a:r>
              <a:rPr lang="zh-CN" altLang="en-US" sz="16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却</a:t>
            </a:r>
            <a:r>
              <a:rPr lang="en-US" sz="1600" b="1" dirty="0" err="1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最低</a:t>
            </a:r>
            <a:endParaRPr lang="en-US" sz="1600" dirty="0"/>
          </a:p>
        </p:txBody>
      </p:sp>
      <p:sp>
        <p:nvSpPr>
          <p:cNvPr id="22" name="text_65"/>
          <p:cNvSpPr txBox="1"/>
          <p:nvPr/>
        </p:nvSpPr>
        <p:spPr>
          <a:xfrm>
            <a:off x="411480" y="5285232"/>
            <a:ext cx="4526280" cy="1024128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</a:t>
            </a:r>
            <a:r>
              <a:rPr lang="zh-CN" alt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比例为</a:t>
            </a:r>
            <a:r>
              <a:rPr lang="en-US" sz="1100" dirty="0" err="1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含该工具的文件占比；强度由效力（发文形式与机关层级）与精细度（内容的清晰、详细、完整程度）相乘</a:t>
            </a:r>
            <a:endParaRPr lang="en-US" sz="1100" dirty="0"/>
          </a:p>
        </p:txBody>
      </p:sp>
      <p:sp>
        <p:nvSpPr>
          <p:cNvPr id="23" name="text_66"/>
          <p:cNvSpPr txBox="1"/>
          <p:nvPr/>
        </p:nvSpPr>
        <p:spPr>
          <a:xfrm>
            <a:off x="5166360" y="1691640"/>
            <a:ext cx="6629400" cy="4114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回归：协同</a:t>
            </a: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效应</a:t>
            </a:r>
            <a:endParaRPr lang="en-US" sz="1600" dirty="0"/>
          </a:p>
        </p:txBody>
      </p:sp>
      <p:graphicFrame>
        <p:nvGraphicFramePr>
          <p:cNvPr id="24" name="table_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095375"/>
              </p:ext>
            </p:extLst>
          </p:nvPr>
        </p:nvGraphicFramePr>
        <p:xfrm>
          <a:off x="5166360" y="2121408"/>
          <a:ext cx="6629400" cy="181965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</a:rPr>
                        <a:t>工具组合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</a:rPr>
                        <a:t>组合类型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</a:rPr>
                        <a:t>滞后一期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</a:rPr>
                        <a:t>滞后两期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</a:rPr>
                        <a:t>结论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</a:rPr>
                        <a:t>目标规划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 -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</a:rPr>
                        <a:t>运营管理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</a:rPr>
                        <a:t>命令控制型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0.017**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0.017***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正向协同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</a:rPr>
                        <a:t>目标规划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 -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</a:rPr>
                        <a:t>产业发展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跨类组合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0.014*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0.013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</a:rPr>
                        <a:t>弱正向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 err="1">
                          <a:solidFill>
                            <a:srgbClr val="000000"/>
                          </a:solidFill>
                        </a:rPr>
                        <a:t>产业发展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 - </a:t>
                      </a:r>
                      <a:r>
                        <a:rPr lang="en-US" sz="1300" dirty="0" err="1">
                          <a:solidFill>
                            <a:srgbClr val="000000"/>
                          </a:solidFill>
                        </a:rPr>
                        <a:t>财政金融支持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市场型组合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−0.012***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</a:rPr>
                        <a:t>负向协同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_68"/>
          <p:cNvSpPr txBox="1"/>
          <p:nvPr/>
        </p:nvSpPr>
        <p:spPr>
          <a:xfrm>
            <a:off x="5166360" y="3986784"/>
            <a:ext cx="6629400" cy="274320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*、**、***：10%、5%、1%水平显著；Hu et al. (2023), Table 3–4</a:t>
            </a:r>
            <a:endParaRPr lang="en-US" sz="1100" dirty="0"/>
          </a:p>
        </p:txBody>
      </p:sp>
      <p:sp>
        <p:nvSpPr>
          <p:cNvPr id="26" name="text_69"/>
          <p:cNvSpPr txBox="1"/>
          <p:nvPr/>
        </p:nvSpPr>
        <p:spPr>
          <a:xfrm>
            <a:off x="5166360" y="4338320"/>
            <a:ext cx="6568440" cy="14264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目标规划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与执行安排的协同： 目标规划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明确方向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具体的安排如产业发展、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运营管理（审批、备案、监督、考核）把目标落到执行，二者互补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</a:p>
          <a:p>
            <a:pPr marL="0" indent="0">
              <a:lnSpc>
                <a:spcPct val="130000"/>
              </a:lnSpc>
              <a:spcAft>
                <a:spcPts val="200"/>
              </a:spcAft>
              <a:buNone/>
            </a:pP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产业发展与财政支持的负向作用： 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产业政策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使得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资源向龙头企业集中，财政金融支持又叠加在同一批产业和企业上，加剧资源错配与市场扭曲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72"/>
          <p:cNvSpPr/>
          <p:nvPr/>
        </p:nvSpPr>
        <p:spPr>
          <a:xfrm>
            <a:off x="365760" y="987552"/>
            <a:ext cx="11457432" cy="56692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73"/>
          <p:cNvSpPr txBox="1"/>
          <p:nvPr/>
        </p:nvSpPr>
        <p:spPr>
          <a:xfrm>
            <a:off x="457200" y="1024128"/>
            <a:ext cx="112471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节能服务产业</a:t>
            </a:r>
            <a:r>
              <a:rPr lang="zh-CN" alt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的政策工具协同</a:t>
            </a:r>
            <a:endParaRPr lang="en-US" sz="2000" dirty="0"/>
          </a:p>
        </p:txBody>
      </p:sp>
      <p:sp>
        <p:nvSpPr>
          <p:cNvPr id="4" name="shape_74"/>
          <p:cNvSpPr/>
          <p:nvPr/>
        </p:nvSpPr>
        <p:spPr>
          <a:xfrm>
            <a:off x="411480" y="1691640"/>
            <a:ext cx="8503920" cy="2194560"/>
          </a:xfrm>
          <a:prstGeom prst="roundRect">
            <a:avLst>
              <a:gd name="adj" fmla="val 3333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text_75"/>
          <p:cNvSpPr txBox="1"/>
          <p:nvPr/>
        </p:nvSpPr>
        <p:spPr>
          <a:xfrm>
            <a:off x="530352" y="1737360"/>
            <a:ext cx="82753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</a:t>
            </a: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目标要靠执行规则落地</a:t>
            </a:r>
            <a:endParaRPr lang="en-US" sz="1600" dirty="0"/>
          </a:p>
        </p:txBody>
      </p:sp>
      <p:sp>
        <p:nvSpPr>
          <p:cNvPr id="6" name="shape_76"/>
          <p:cNvSpPr/>
          <p:nvPr/>
        </p:nvSpPr>
        <p:spPr>
          <a:xfrm>
            <a:off x="548640" y="2176272"/>
            <a:ext cx="2542032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_77"/>
          <p:cNvSpPr txBox="1"/>
          <p:nvPr/>
        </p:nvSpPr>
        <p:spPr>
          <a:xfrm>
            <a:off x="621792" y="2231136"/>
            <a:ext cx="2395728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2006—2007年　目标约束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“十一五”节能目标分解到地方和企业，建立考核体系；释放改造需求，但缺少资金与合同履行的配套安排</a:t>
            </a:r>
            <a:endParaRPr lang="en-US" sz="1400" dirty="0"/>
          </a:p>
        </p:txBody>
      </p:sp>
      <p:sp>
        <p:nvSpPr>
          <p:cNvPr id="8" name="arrow_78"/>
          <p:cNvSpPr/>
          <p:nvPr/>
        </p:nvSpPr>
        <p:spPr>
          <a:xfrm>
            <a:off x="3108960" y="2852928"/>
            <a:ext cx="219456" cy="256032"/>
          </a:xfrm>
          <a:prstGeom prst="rightArrow">
            <a:avLst/>
          </a:prstGeom>
          <a:solidFill>
            <a:srgbClr val="8497B0"/>
          </a:solidFill>
          <a:ln w="12700">
            <a:solidFill>
              <a:srgbClr val="8497B0"/>
            </a:solidFill>
            <a:prstDash val="solid"/>
          </a:ln>
        </p:spPr>
      </p:sp>
      <p:sp>
        <p:nvSpPr>
          <p:cNvPr id="9" name="shape_79"/>
          <p:cNvSpPr/>
          <p:nvPr/>
        </p:nvSpPr>
        <p:spPr>
          <a:xfrm>
            <a:off x="3346704" y="2176272"/>
            <a:ext cx="2542032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_80"/>
          <p:cNvSpPr txBox="1"/>
          <p:nvPr/>
        </p:nvSpPr>
        <p:spPr>
          <a:xfrm>
            <a:off x="3419856" y="2231136"/>
            <a:ext cx="2395728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2010年　执行规则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财政奖励办法串起备案、申报、审核、拨付、监督；技术通则统一项目实施与合同框架；补上资金与执行环节</a:t>
            </a:r>
            <a:endParaRPr lang="en-US" sz="1400" dirty="0"/>
          </a:p>
        </p:txBody>
      </p:sp>
      <p:sp>
        <p:nvSpPr>
          <p:cNvPr id="11" name="arrow_81"/>
          <p:cNvSpPr/>
          <p:nvPr/>
        </p:nvSpPr>
        <p:spPr>
          <a:xfrm>
            <a:off x="5907024" y="2852928"/>
            <a:ext cx="219456" cy="256032"/>
          </a:xfrm>
          <a:prstGeom prst="rightArrow">
            <a:avLst/>
          </a:prstGeom>
          <a:solidFill>
            <a:srgbClr val="8497B0"/>
          </a:solidFill>
          <a:ln w="12700">
            <a:solidFill>
              <a:srgbClr val="8497B0"/>
            </a:solidFill>
            <a:prstDash val="solid"/>
          </a:ln>
        </p:spPr>
      </p:sp>
      <p:sp>
        <p:nvSpPr>
          <p:cNvPr id="12" name="shape_82"/>
          <p:cNvSpPr/>
          <p:nvPr/>
        </p:nvSpPr>
        <p:spPr>
          <a:xfrm>
            <a:off x="6144768" y="2176272"/>
            <a:ext cx="2542032" cy="1618488"/>
          </a:xfrm>
          <a:prstGeom prst="roundRect">
            <a:avLst>
              <a:gd name="adj" fmla="val 452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_83"/>
          <p:cNvSpPr txBox="1"/>
          <p:nvPr/>
        </p:nvSpPr>
        <p:spPr>
          <a:xfrm>
            <a:off x="6217920" y="2231136"/>
            <a:ext cx="2395728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2010—2015年　规模扩张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节能责任转化为可签约、可融资、可实施的项目；产业进入系统扶持与规模扩张阶段</a:t>
            </a:r>
            <a:endParaRPr lang="en-US" sz="1400" dirty="0"/>
          </a:p>
        </p:txBody>
      </p:sp>
      <p:pic>
        <p:nvPicPr>
          <p:cNvPr id="14" name="photo_84" descr="/home/claude/deco/deco_c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691640"/>
            <a:ext cx="2697480" cy="2194560"/>
          </a:xfrm>
          <a:prstGeom prst="rect">
            <a:avLst/>
          </a:prstGeom>
        </p:spPr>
      </p:pic>
      <p:sp>
        <p:nvSpPr>
          <p:cNvPr id="15" name="shape_85"/>
          <p:cNvSpPr/>
          <p:nvPr/>
        </p:nvSpPr>
        <p:spPr>
          <a:xfrm>
            <a:off x="411480" y="4041648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6" name="text_86"/>
          <p:cNvSpPr txBox="1"/>
          <p:nvPr/>
        </p:nvSpPr>
        <p:spPr>
          <a:xfrm>
            <a:off x="484632" y="4096512"/>
            <a:ext cx="5431536" cy="21762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</a:t>
            </a: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市场型工具叠加造成激励扭曲</a:t>
            </a:r>
            <a:endParaRPr lang="en-US" sz="1500" b="1" dirty="0">
              <a:solidFill>
                <a:srgbClr val="44546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资格绑定：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2010年国家财政奖励限定于一定节能量区间内的节能效益分享型项目，部分企业为取得奖励优先采用该模式；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需求挤出：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面向用能单位自行改造的财政奖励，挤压了对专业节能服务的需求；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政策依赖：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长期依靠补贴易形成重复支持，地方财政能力不同还会加剧地区差距。</a:t>
            </a:r>
            <a:endParaRPr lang="en-US" sz="1400" dirty="0"/>
          </a:p>
        </p:txBody>
      </p:sp>
      <p:sp>
        <p:nvSpPr>
          <p:cNvPr id="17" name="shape_87"/>
          <p:cNvSpPr/>
          <p:nvPr/>
        </p:nvSpPr>
        <p:spPr>
          <a:xfrm>
            <a:off x="6217920" y="4041648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8" name="text_88"/>
          <p:cNvSpPr txBox="1"/>
          <p:nvPr/>
        </p:nvSpPr>
        <p:spPr>
          <a:xfrm>
            <a:off x="6291072" y="4096512"/>
            <a:ext cx="5431536" cy="217627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</a:t>
            </a: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体系完善程度</a:t>
            </a:r>
            <a:r>
              <a:rPr lang="zh-CN" alt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的评价</a:t>
            </a: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不能只看文件数量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3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纳入</a:t>
            </a:r>
            <a:r>
              <a:rPr lang="en-US" sz="13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</a:t>
            </a:r>
            <a:r>
              <a:rPr lang="en-US" sz="13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“十二五”以来，合同能源管理多写入节能减排、工业节能等综合规划，属于非专门政策；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规则质量：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过于统一或更新滞后的规则难以适应新服务模式，重点应转向提高适用性和执行质量；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研究启示：</a:t>
            </a: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定量分析需区分专门与非专门政策，并按效力和精细度加权，而非简单计数。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_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11274552" cy="694944"/>
        </p:xfrm>
        <a:graphic>
          <a:graphicData uri="http://schemas.openxmlformats.org/drawingml/2006/table">
            <a:tbl>
              <a:tblPr/>
              <a:tblGrid>
                <a:gridCol w="768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JOURNAL OF CLEANER PRODUCTION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10.0/Q1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From text to effectiveness: Quantifying green industrial policies in China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hape_90"/>
          <p:cNvSpPr/>
          <p:nvPr/>
        </p:nvSpPr>
        <p:spPr>
          <a:xfrm>
            <a:off x="411480" y="1783080"/>
            <a:ext cx="6492240" cy="253288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4" name="text_91"/>
          <p:cNvSpPr txBox="1"/>
          <p:nvPr/>
        </p:nvSpPr>
        <p:spPr>
          <a:xfrm>
            <a:off x="502920" y="1856232"/>
            <a:ext cx="3906520" cy="4114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研究背景</a:t>
            </a:r>
            <a:endParaRPr lang="en-US" sz="2000" dirty="0"/>
          </a:p>
        </p:txBody>
      </p:sp>
      <p:sp>
        <p:nvSpPr>
          <p:cNvPr id="5" name="text_92"/>
          <p:cNvSpPr txBox="1"/>
          <p:nvPr/>
        </p:nvSpPr>
        <p:spPr>
          <a:xfrm>
            <a:off x="502920" y="2286000"/>
            <a:ext cx="6309360" cy="17922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285750" indent="-28575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中国是全球最大的能源消费国和碳排放国，工业化、快速城镇化和对煤炭的依赖是主要原因；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绿色产业政策起步于20世纪90年代，已从试探性措施发展为覆盖多领域、多层级的政策体系；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政策评价是政策制定与管理的关键环节，帮助决策者保留、调整或废止政策，把有限资源配置到最有效的工具上。</a:t>
            </a:r>
            <a:endParaRPr lang="en-US" sz="1600" dirty="0"/>
          </a:p>
        </p:txBody>
      </p:sp>
      <p:sp>
        <p:nvSpPr>
          <p:cNvPr id="6" name="shape_93"/>
          <p:cNvSpPr/>
          <p:nvPr/>
        </p:nvSpPr>
        <p:spPr>
          <a:xfrm>
            <a:off x="411480" y="4491736"/>
            <a:ext cx="6492240" cy="1992376"/>
          </a:xfrm>
          <a:prstGeom prst="rect">
            <a:avLst/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7" name="text_94"/>
          <p:cNvSpPr txBox="1"/>
          <p:nvPr/>
        </p:nvSpPr>
        <p:spPr>
          <a:xfrm>
            <a:off x="502920" y="45648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研究问题</a:t>
            </a:r>
            <a:endParaRPr lang="en-US" sz="2000" dirty="0"/>
          </a:p>
        </p:txBody>
      </p:sp>
      <p:sp>
        <p:nvSpPr>
          <p:cNvPr id="2" name="text_95"/>
          <p:cNvSpPr txBox="1"/>
          <p:nvPr/>
        </p:nvSpPr>
        <p:spPr>
          <a:xfrm>
            <a:off x="502920" y="4994656"/>
            <a:ext cx="6309360" cy="127406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已有研究不足：① 多评价宏观总体效果，缺少对单个工具的量化与分类；② 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效力评价依赖专家打分，主观性强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60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zh-CN" altLang="en-US" sz="1600" b="1" dirty="0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研究内容</a:t>
            </a:r>
            <a:r>
              <a:rPr lang="en-US" sz="1600" b="1" dirty="0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从7891份政策文本中归纳工具类型；量化各类工具的效力；刻画1994—2022年工具结构的演化。</a:t>
            </a:r>
            <a:endParaRPr lang="en-US" sz="1600" dirty="0"/>
          </a:p>
        </p:txBody>
      </p:sp>
      <p:pic>
        <p:nvPicPr>
          <p:cNvPr id="9" name="photo_96" descr="/home/claude/deco/deco_greenc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783080"/>
            <a:ext cx="4645152" cy="1764792"/>
          </a:xfrm>
          <a:prstGeom prst="rect">
            <a:avLst/>
          </a:prstGeom>
        </p:spPr>
      </p:pic>
      <p:sp>
        <p:nvSpPr>
          <p:cNvPr id="10" name="shape_97"/>
          <p:cNvSpPr/>
          <p:nvPr/>
        </p:nvSpPr>
        <p:spPr>
          <a:xfrm>
            <a:off x="7132320" y="3759200"/>
            <a:ext cx="4645152" cy="2047240"/>
          </a:xfrm>
          <a:prstGeom prst="roundRect">
            <a:avLst>
              <a:gd name="adj" fmla="val 2787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1" name="text_98"/>
          <p:cNvSpPr txBox="1"/>
          <p:nvPr/>
        </p:nvSpPr>
        <p:spPr>
          <a:xfrm>
            <a:off x="7205472" y="3814064"/>
            <a:ext cx="4498848" cy="19923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研究概况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研究对象：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中国绿色产业政策；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1994—2022年7891份政策文本；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</a:t>
            </a: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</a:rPr>
              <a:t>通过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LDA识别出15种工具，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总体归纳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为供给型、需求型、环境型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从文本出发分析政策体系的特征与重心演化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99"/>
          <p:cNvSpPr/>
          <p:nvPr/>
        </p:nvSpPr>
        <p:spPr>
          <a:xfrm>
            <a:off x="365760" y="987552"/>
            <a:ext cx="11457432" cy="56692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100"/>
          <p:cNvSpPr txBox="1"/>
          <p:nvPr/>
        </p:nvSpPr>
        <p:spPr>
          <a:xfrm>
            <a:off x="457200" y="1024128"/>
            <a:ext cx="768096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2.3 研究方法：LDA识别工具与PMC-TE打分</a:t>
            </a:r>
            <a:endParaRPr lang="en-US" sz="2000" dirty="0"/>
          </a:p>
        </p:txBody>
      </p:sp>
      <p:sp>
        <p:nvSpPr>
          <p:cNvPr id="4" name="text_101"/>
          <p:cNvSpPr txBox="1"/>
          <p:nvPr/>
        </p:nvSpPr>
        <p:spPr>
          <a:xfrm>
            <a:off x="8229600" y="1024128"/>
            <a:ext cx="3502152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1994—2022年｜7891份政策文本</a:t>
            </a:r>
            <a:endParaRPr lang="en-US" sz="1300" dirty="0"/>
          </a:p>
        </p:txBody>
      </p:sp>
      <p:pic>
        <p:nvPicPr>
          <p:cNvPr id="5" name="figure_102" descr="/home/claude/figs2/Song2024_Fig1_framew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03400"/>
            <a:ext cx="4343400" cy="3738623"/>
          </a:xfrm>
          <a:prstGeom prst="rect">
            <a:avLst/>
          </a:prstGeom>
        </p:spPr>
      </p:pic>
      <p:sp>
        <p:nvSpPr>
          <p:cNvPr id="6" name="text_103"/>
          <p:cNvSpPr txBox="1"/>
          <p:nvPr/>
        </p:nvSpPr>
        <p:spPr>
          <a:xfrm>
            <a:off x="411480" y="5587743"/>
            <a:ext cx="4343400" cy="457200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研究框架｜Fig</a:t>
            </a: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 1</a:t>
            </a:r>
            <a:endParaRPr lang="en-US" sz="1100" dirty="0"/>
          </a:p>
        </p:txBody>
      </p:sp>
      <p:sp>
        <p:nvSpPr>
          <p:cNvPr id="8" name="shape_105"/>
          <p:cNvSpPr/>
          <p:nvPr/>
        </p:nvSpPr>
        <p:spPr>
          <a:xfrm>
            <a:off x="4983480" y="1803400"/>
            <a:ext cx="4754880" cy="980440"/>
          </a:xfrm>
          <a:prstGeom prst="roundRect">
            <a:avLst>
              <a:gd name="adj" fmla="val 3902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9" name="text_106"/>
          <p:cNvSpPr txBox="1"/>
          <p:nvPr/>
        </p:nvSpPr>
        <p:spPr>
          <a:xfrm>
            <a:off x="5056632" y="1858264"/>
            <a:ext cx="4608576" cy="6817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第一步　</a:t>
            </a: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LDA主题模型识别</a:t>
            </a: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</a:t>
            </a: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</a:t>
            </a:r>
            <a:endParaRPr lang="en-US" sz="1600" dirty="0"/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按特征词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得到15种工具</a:t>
            </a:r>
          </a:p>
          <a:p>
            <a:pPr marL="285750" indent="-2857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归为供给型、需求型、环境型</a:t>
            </a:r>
            <a:endParaRPr lang="en-US" sz="1600" dirty="0"/>
          </a:p>
        </p:txBody>
      </p:sp>
      <p:pic>
        <p:nvPicPr>
          <p:cNvPr id="10" name="figure_107" descr="/home/claude/figs2b/Song2024_Fig3_topic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236" y="1868273"/>
            <a:ext cx="1933956" cy="2410272"/>
          </a:xfrm>
          <a:prstGeom prst="rect">
            <a:avLst/>
          </a:prstGeom>
        </p:spPr>
      </p:pic>
      <p:sp>
        <p:nvSpPr>
          <p:cNvPr id="11" name="text_108"/>
          <p:cNvSpPr txBox="1"/>
          <p:nvPr/>
        </p:nvSpPr>
        <p:spPr>
          <a:xfrm>
            <a:off x="10410952" y="4320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15个主题的分布｜Fig. 3</a:t>
            </a:r>
            <a:endParaRPr lang="en-US" sz="1100" dirty="0"/>
          </a:p>
        </p:txBody>
      </p:sp>
      <p:sp>
        <p:nvSpPr>
          <p:cNvPr id="12" name="shape_109"/>
          <p:cNvSpPr/>
          <p:nvPr/>
        </p:nvSpPr>
        <p:spPr>
          <a:xfrm>
            <a:off x="4983480" y="2970784"/>
            <a:ext cx="4754880" cy="1261872"/>
          </a:xfrm>
          <a:prstGeom prst="roundRect">
            <a:avLst>
              <a:gd name="adj" fmla="val 5797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3" name="text_110"/>
          <p:cNvSpPr txBox="1"/>
          <p:nvPr/>
        </p:nvSpPr>
        <p:spPr>
          <a:xfrm>
            <a:off x="5056632" y="3025648"/>
            <a:ext cx="4681728" cy="11521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第二步</a:t>
            </a: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r>
              <a:rPr lang="zh-CN" alt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</a:t>
            </a: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工具打分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效力级别、发文机关、时效、目标次数、强制或自愿、实施层级、作用对象、有效期、覆盖行业数；权重相同，分数从文本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读出</a:t>
            </a:r>
            <a:endParaRPr lang="en-US" sz="1600" dirty="0"/>
          </a:p>
        </p:txBody>
      </p:sp>
      <p:graphicFrame>
        <p:nvGraphicFramePr>
          <p:cNvPr id="14" name="table_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976165"/>
              </p:ext>
            </p:extLst>
          </p:nvPr>
        </p:nvGraphicFramePr>
        <p:xfrm>
          <a:off x="5010912" y="4720336"/>
          <a:ext cx="6812280" cy="111556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供给型（5种）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需求型（6种）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环境型（4种）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财政金融支持、人才培养、技术支持、信息资源建设、产业园区与基础设施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政府采购、服务外包、贸易管制、环境标志与认证、海外机构管理、示范项目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目标规划、法规与标准管制、知识产权保护、科技成果转化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112"/>
          <p:cNvSpPr/>
          <p:nvPr/>
        </p:nvSpPr>
        <p:spPr>
          <a:xfrm>
            <a:off x="365760" y="987552"/>
            <a:ext cx="11457432" cy="56692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113"/>
          <p:cNvSpPr txBox="1"/>
          <p:nvPr/>
        </p:nvSpPr>
        <p:spPr>
          <a:xfrm>
            <a:off x="457200" y="1024128"/>
            <a:ext cx="1133856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2.4 </a:t>
            </a:r>
            <a:r>
              <a:rPr lang="en-US" sz="20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研究结果</a:t>
            </a:r>
            <a:endParaRPr lang="en-US" sz="2000" dirty="0"/>
          </a:p>
        </p:txBody>
      </p:sp>
      <p:pic>
        <p:nvPicPr>
          <p:cNvPr id="4" name="figure_114" descr="/home/claude/figs2/Song2024_Fig7_three_typ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5760720" cy="2661598"/>
          </a:xfrm>
          <a:prstGeom prst="rect">
            <a:avLst/>
          </a:prstGeom>
        </p:spPr>
      </p:pic>
      <p:sp>
        <p:nvSpPr>
          <p:cNvPr id="5" name="text_115"/>
          <p:cNvSpPr txBox="1"/>
          <p:nvPr/>
        </p:nvSpPr>
        <p:spPr>
          <a:xfrm>
            <a:off x="411480" y="4389814"/>
            <a:ext cx="5760720" cy="274320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三类工具效力的年度变化（纵轴为对数坐标）｜Fig. 7</a:t>
            </a:r>
            <a:endParaRPr lang="en-US" sz="1100" dirty="0"/>
          </a:p>
        </p:txBody>
      </p:sp>
      <p:sp>
        <p:nvSpPr>
          <p:cNvPr id="8" name="shape_118"/>
          <p:cNvSpPr/>
          <p:nvPr/>
        </p:nvSpPr>
        <p:spPr>
          <a:xfrm>
            <a:off x="6400800" y="16916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9" name="text_119"/>
          <p:cNvSpPr txBox="1"/>
          <p:nvPr/>
        </p:nvSpPr>
        <p:spPr>
          <a:xfrm>
            <a:off x="6473952" y="1746504"/>
            <a:ext cx="5306568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</a:t>
            </a: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</a:t>
            </a:r>
            <a:r>
              <a:rPr lang="zh-CN" alt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特征</a:t>
            </a:r>
            <a:endParaRPr lang="en-US" sz="14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技术支持、信息资源建设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等工具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数量最多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得分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政府采购、服务外包等需求拉动工具逐年增加，但使用和得分仍偏低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表明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市场需求尚未被充分激活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600" dirty="0"/>
          </a:p>
        </p:txBody>
      </p:sp>
      <p:sp>
        <p:nvSpPr>
          <p:cNvPr id="10" name="shape_120"/>
          <p:cNvSpPr/>
          <p:nvPr/>
        </p:nvSpPr>
        <p:spPr>
          <a:xfrm>
            <a:off x="6400800" y="3172968"/>
            <a:ext cx="5394960" cy="1216152"/>
          </a:xfrm>
          <a:prstGeom prst="roundRect">
            <a:avLst>
              <a:gd name="adj" fmla="val 6015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1" name="text_121"/>
          <p:cNvSpPr txBox="1"/>
          <p:nvPr/>
        </p:nvSpPr>
        <p:spPr>
          <a:xfrm>
            <a:off x="6473952" y="3227832"/>
            <a:ext cx="5248656" cy="11064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</a:t>
            </a: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</a:t>
            </a:r>
            <a:r>
              <a:rPr lang="zh-CN" alt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特征</a:t>
            </a:r>
            <a:endParaRPr lang="en-US" sz="14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供给型一直占主导；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需求型2004年才出现，政府采购等拉动需求的工具偏弱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环境型长期偏少，2017年后与供给型一起上升；</a:t>
            </a:r>
            <a:endParaRPr lang="en-US" sz="1600" dirty="0"/>
          </a:p>
        </p:txBody>
      </p:sp>
      <p:sp>
        <p:nvSpPr>
          <p:cNvPr id="12" name="shape_122"/>
          <p:cNvSpPr/>
          <p:nvPr/>
        </p:nvSpPr>
        <p:spPr>
          <a:xfrm>
            <a:off x="5870448" y="4509702"/>
            <a:ext cx="5892800" cy="2236538"/>
          </a:xfrm>
          <a:prstGeom prst="roundRect">
            <a:avLst>
              <a:gd name="adj" fmla="val 40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3" name="text_123"/>
          <p:cNvSpPr txBox="1"/>
          <p:nvPr/>
        </p:nvSpPr>
        <p:spPr>
          <a:xfrm>
            <a:off x="5972048" y="4564566"/>
            <a:ext cx="5892800" cy="1719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</a:t>
            </a: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</a:t>
            </a: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特征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萌芽</a:t>
            </a: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</a:t>
            </a: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（2002</a:t>
            </a: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以前</a:t>
            </a: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以技术支持和初步环保措施为主；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成长</a:t>
            </a: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</a:t>
            </a: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（2003—2015）：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加强供给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型政策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，推动研发与人才，法规标准逐步完善；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深化</a:t>
            </a: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</a:t>
            </a: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（2016—2019）：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绿色产业成为战略方向，目标规划、法规标准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占主要部分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完善</a:t>
            </a: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</a:t>
            </a: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（2020</a:t>
            </a:r>
            <a:r>
              <a:rPr lang="zh-CN" alt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至今</a:t>
            </a: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）：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更精细，激活需求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侧</a:t>
            </a:r>
            <a:endParaRPr lang="en-US" sz="1600" dirty="0"/>
          </a:p>
        </p:txBody>
      </p:sp>
      <p:pic>
        <p:nvPicPr>
          <p:cNvPr id="14" name="figure_126" descr="/home/claude/figs2/Song2024_Fig6_tool_effectiveness.jpg">
            <a:extLst>
              <a:ext uri="{FF2B5EF4-FFF2-40B4-BE49-F238E27FC236}">
                <a16:creationId xmlns:a16="http://schemas.microsoft.com/office/drawing/2014/main" id="{DCA3BB95-1A9B-C951-AC93-660DAB6C1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00710"/>
            <a:ext cx="4572000" cy="21626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124"/>
          <p:cNvSpPr/>
          <p:nvPr/>
        </p:nvSpPr>
        <p:spPr>
          <a:xfrm>
            <a:off x="365760" y="987552"/>
            <a:ext cx="11457432" cy="56692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125"/>
          <p:cNvSpPr txBox="1"/>
          <p:nvPr/>
        </p:nvSpPr>
        <p:spPr>
          <a:xfrm>
            <a:off x="457200" y="1024128"/>
            <a:ext cx="112471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节能服务产业</a:t>
            </a:r>
            <a:r>
              <a:rPr lang="zh-CN" alt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的政策体系演化</a:t>
            </a:r>
            <a:endParaRPr lang="en-US" sz="2000" dirty="0"/>
          </a:p>
        </p:txBody>
      </p:sp>
      <p:pic>
        <p:nvPicPr>
          <p:cNvPr id="4" name="figure_126" descr="/home/claude/figs2/Song2024_Fig6_tool_effectivene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64" y="3276600"/>
            <a:ext cx="3262338" cy="1543166"/>
          </a:xfrm>
          <a:prstGeom prst="rect">
            <a:avLst/>
          </a:prstGeom>
        </p:spPr>
      </p:pic>
      <p:sp>
        <p:nvSpPr>
          <p:cNvPr id="6" name="shape_128"/>
          <p:cNvSpPr/>
          <p:nvPr/>
        </p:nvSpPr>
        <p:spPr>
          <a:xfrm>
            <a:off x="3500339" y="2855976"/>
            <a:ext cx="8322853" cy="2127504"/>
          </a:xfrm>
          <a:prstGeom prst="roundRect">
            <a:avLst>
              <a:gd name="adj" fmla="val 3077"/>
            </a:avLst>
          </a:prstGeom>
          <a:solidFill>
            <a:srgbClr val="D6DCE5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7" name="text_129"/>
          <p:cNvSpPr txBox="1"/>
          <p:nvPr/>
        </p:nvSpPr>
        <p:spPr>
          <a:xfrm>
            <a:off x="3591797" y="3017520"/>
            <a:ext cx="8670544" cy="22677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节能服务</a:t>
            </a:r>
            <a:r>
              <a:rPr lang="zh-CN" alt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</a:t>
            </a: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政策各阶段重点</a:t>
            </a:r>
            <a:endParaRPr lang="en-US" sz="1500" b="1" dirty="0">
              <a:solidFill>
                <a:srgbClr val="44546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机制引入（1998—2003）：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以示范项目和国际援助资金引入合同能源管理；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政策探索（2004—2009）：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提出推行合同能源管理，节能目标分解考核释放需求；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系统扶持（2010—2015）：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建立财税、金融、会计支持框架，按节能量给予奖励；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市场化规范（2016—2020）：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取消审核备案，普遍性奖励退出，标准与信用作用上升；</a:t>
            </a:r>
            <a:endParaRPr lang="en-US" sz="16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双碳深化（2021年以来）：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双碳目标约束，推进能源费用托管与综合能源服务。</a:t>
            </a:r>
            <a:endParaRPr lang="en-US" sz="1600" dirty="0"/>
          </a:p>
        </p:txBody>
      </p:sp>
      <p:sp>
        <p:nvSpPr>
          <p:cNvPr id="9" name="text_131"/>
          <p:cNvSpPr txBox="1"/>
          <p:nvPr/>
        </p:nvSpPr>
        <p:spPr>
          <a:xfrm>
            <a:off x="457200" y="1656588"/>
            <a:ext cx="1874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绿色产业</a:t>
            </a:r>
            <a:endParaRPr lang="en-US" sz="1250" dirty="0"/>
          </a:p>
        </p:txBody>
      </p:sp>
      <p:sp>
        <p:nvSpPr>
          <p:cNvPr id="10" name="bar_132"/>
          <p:cNvSpPr/>
          <p:nvPr/>
        </p:nvSpPr>
        <p:spPr>
          <a:xfrm>
            <a:off x="2377440" y="1656588"/>
            <a:ext cx="2711049" cy="502920"/>
          </a:xfrm>
          <a:prstGeom prst="rect">
            <a:avLst/>
          </a:prstGeom>
          <a:solidFill>
            <a:srgbClr val="D6D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_133"/>
          <p:cNvSpPr txBox="1"/>
          <p:nvPr/>
        </p:nvSpPr>
        <p:spPr>
          <a:xfrm>
            <a:off x="2377440" y="1656588"/>
            <a:ext cx="2711049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≤2002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萌芽</a:t>
            </a:r>
            <a:endParaRPr lang="en-US" sz="1100" dirty="0"/>
          </a:p>
        </p:txBody>
      </p:sp>
      <p:sp>
        <p:nvSpPr>
          <p:cNvPr id="12" name="bar_134"/>
          <p:cNvSpPr/>
          <p:nvPr/>
        </p:nvSpPr>
        <p:spPr>
          <a:xfrm>
            <a:off x="5125065" y="1656588"/>
            <a:ext cx="3932215" cy="502920"/>
          </a:xfrm>
          <a:prstGeom prst="rect">
            <a:avLst/>
          </a:prstGeom>
          <a:solidFill>
            <a:srgbClr val="D6D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_135"/>
          <p:cNvSpPr txBox="1"/>
          <p:nvPr/>
        </p:nvSpPr>
        <p:spPr>
          <a:xfrm>
            <a:off x="5125065" y="1656588"/>
            <a:ext cx="3932215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2003—2015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成长</a:t>
            </a:r>
            <a:endParaRPr lang="en-US" sz="1100" dirty="0"/>
          </a:p>
        </p:txBody>
      </p:sp>
      <p:sp>
        <p:nvSpPr>
          <p:cNvPr id="14" name="bar_136"/>
          <p:cNvSpPr/>
          <p:nvPr/>
        </p:nvSpPr>
        <p:spPr>
          <a:xfrm>
            <a:off x="9093855" y="1656588"/>
            <a:ext cx="1184590" cy="502920"/>
          </a:xfrm>
          <a:prstGeom prst="rect">
            <a:avLst/>
          </a:prstGeom>
          <a:solidFill>
            <a:srgbClr val="D6D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_137"/>
          <p:cNvSpPr txBox="1"/>
          <p:nvPr/>
        </p:nvSpPr>
        <p:spPr>
          <a:xfrm>
            <a:off x="9093855" y="1656588"/>
            <a:ext cx="118459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2016—2019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深化</a:t>
            </a:r>
            <a:endParaRPr lang="en-US" sz="1100" dirty="0"/>
          </a:p>
        </p:txBody>
      </p:sp>
      <p:sp>
        <p:nvSpPr>
          <p:cNvPr id="16" name="bar_138"/>
          <p:cNvSpPr/>
          <p:nvPr/>
        </p:nvSpPr>
        <p:spPr>
          <a:xfrm>
            <a:off x="10315022" y="1656588"/>
            <a:ext cx="1489882" cy="502920"/>
          </a:xfrm>
          <a:prstGeom prst="rect">
            <a:avLst/>
          </a:prstGeom>
          <a:solidFill>
            <a:srgbClr val="D6DC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_139"/>
          <p:cNvSpPr txBox="1"/>
          <p:nvPr/>
        </p:nvSpPr>
        <p:spPr>
          <a:xfrm>
            <a:off x="10315022" y="1656588"/>
            <a:ext cx="148988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2020—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完善</a:t>
            </a:r>
            <a:endParaRPr lang="en-US" sz="1100" dirty="0"/>
          </a:p>
        </p:txBody>
      </p:sp>
      <p:sp>
        <p:nvSpPr>
          <p:cNvPr id="18" name="text_140"/>
          <p:cNvSpPr txBox="1"/>
          <p:nvPr/>
        </p:nvSpPr>
        <p:spPr>
          <a:xfrm>
            <a:off x="457200" y="2232660"/>
            <a:ext cx="1874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节能服务</a:t>
            </a:r>
            <a:r>
              <a:rPr lang="zh-CN" altLang="en-US" sz="125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</a:t>
            </a:r>
            <a:endParaRPr lang="en-US" sz="1250" dirty="0"/>
          </a:p>
        </p:txBody>
      </p:sp>
      <p:sp>
        <p:nvSpPr>
          <p:cNvPr id="19" name="bar_141"/>
          <p:cNvSpPr/>
          <p:nvPr/>
        </p:nvSpPr>
        <p:spPr>
          <a:xfrm>
            <a:off x="3598606" y="2232660"/>
            <a:ext cx="1795174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_142"/>
          <p:cNvSpPr txBox="1"/>
          <p:nvPr/>
        </p:nvSpPr>
        <p:spPr>
          <a:xfrm>
            <a:off x="3598606" y="2232660"/>
            <a:ext cx="179517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1998—2003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机制引入</a:t>
            </a:r>
            <a:endParaRPr lang="en-US" sz="1100" dirty="0"/>
          </a:p>
        </p:txBody>
      </p:sp>
      <p:sp>
        <p:nvSpPr>
          <p:cNvPr id="21" name="bar_143"/>
          <p:cNvSpPr/>
          <p:nvPr/>
        </p:nvSpPr>
        <p:spPr>
          <a:xfrm>
            <a:off x="5430356" y="2232660"/>
            <a:ext cx="1795174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_144"/>
          <p:cNvSpPr txBox="1"/>
          <p:nvPr/>
        </p:nvSpPr>
        <p:spPr>
          <a:xfrm>
            <a:off x="5430356" y="2232660"/>
            <a:ext cx="179517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2004—2009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政策探索</a:t>
            </a:r>
            <a:endParaRPr lang="en-US" sz="1100" dirty="0"/>
          </a:p>
        </p:txBody>
      </p:sp>
      <p:sp>
        <p:nvSpPr>
          <p:cNvPr id="23" name="bar_145"/>
          <p:cNvSpPr/>
          <p:nvPr/>
        </p:nvSpPr>
        <p:spPr>
          <a:xfrm>
            <a:off x="7262106" y="2232660"/>
            <a:ext cx="1795174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_146"/>
          <p:cNvSpPr txBox="1"/>
          <p:nvPr/>
        </p:nvSpPr>
        <p:spPr>
          <a:xfrm>
            <a:off x="7262106" y="2232660"/>
            <a:ext cx="179517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2010—2015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系统扶持</a:t>
            </a:r>
            <a:endParaRPr lang="en-US" sz="1100" dirty="0"/>
          </a:p>
        </p:txBody>
      </p:sp>
      <p:sp>
        <p:nvSpPr>
          <p:cNvPr id="25" name="bar_147"/>
          <p:cNvSpPr/>
          <p:nvPr/>
        </p:nvSpPr>
        <p:spPr>
          <a:xfrm>
            <a:off x="9093855" y="2232660"/>
            <a:ext cx="1489882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_148"/>
          <p:cNvSpPr txBox="1"/>
          <p:nvPr/>
        </p:nvSpPr>
        <p:spPr>
          <a:xfrm>
            <a:off x="9093855" y="2232660"/>
            <a:ext cx="148988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2016—2020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市场化规范</a:t>
            </a:r>
            <a:endParaRPr lang="en-US" sz="1100" dirty="0"/>
          </a:p>
        </p:txBody>
      </p:sp>
      <p:sp>
        <p:nvSpPr>
          <p:cNvPr id="27" name="bar_149"/>
          <p:cNvSpPr/>
          <p:nvPr/>
        </p:nvSpPr>
        <p:spPr>
          <a:xfrm>
            <a:off x="10620314" y="2232660"/>
            <a:ext cx="118459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_150"/>
          <p:cNvSpPr txBox="1"/>
          <p:nvPr/>
        </p:nvSpPr>
        <p:spPr>
          <a:xfrm>
            <a:off x="10620314" y="2232660"/>
            <a:ext cx="118459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2021—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双碳深化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_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11274552" cy="859536"/>
        </p:xfrm>
        <a:graphic>
          <a:graphicData uri="http://schemas.openxmlformats.org/drawingml/2006/table">
            <a:tbl>
              <a:tblPr/>
              <a:tblGrid>
                <a:gridCol w="768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TECHNOLOGICAL FORECASTING AND SOCIAL CHANGE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13.3/Q1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impact of policy collaboration networks and policy topic networks on policy diffusion: Empirical evidence from the energy field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hape_156"/>
          <p:cNvSpPr/>
          <p:nvPr/>
        </p:nvSpPr>
        <p:spPr>
          <a:xfrm>
            <a:off x="411480" y="1938528"/>
            <a:ext cx="6492240" cy="1919329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4" name="text_157"/>
          <p:cNvSpPr txBox="1"/>
          <p:nvPr/>
        </p:nvSpPr>
        <p:spPr>
          <a:xfrm>
            <a:off x="502920" y="20116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研究背景</a:t>
            </a:r>
            <a:endParaRPr lang="en-US" sz="2000" dirty="0"/>
          </a:p>
        </p:txBody>
      </p:sp>
      <p:sp>
        <p:nvSpPr>
          <p:cNvPr id="5" name="text_158"/>
          <p:cNvSpPr txBox="1"/>
          <p:nvPr/>
        </p:nvSpPr>
        <p:spPr>
          <a:xfrm>
            <a:off x="502920" y="2441448"/>
            <a:ext cx="6400800" cy="1338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政策体系不是一次成形的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一项政策出台以后，会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被其他部门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层级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政府引用，逐层扩散形成的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本文用被引次数衡量扩散程度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，即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被后来的政策、司法案例和期刊引用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altLang="zh-CN" sz="1600" dirty="0">
              <a:solidFill>
                <a:srgbClr val="00000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</a:rPr>
              <a:t>核心分析影响扩散程度的因素。</a:t>
            </a:r>
            <a:endParaRPr lang="en-US" sz="1600" dirty="0"/>
          </a:p>
        </p:txBody>
      </p:sp>
      <p:sp>
        <p:nvSpPr>
          <p:cNvPr id="6" name="shape_159"/>
          <p:cNvSpPr/>
          <p:nvPr/>
        </p:nvSpPr>
        <p:spPr>
          <a:xfrm>
            <a:off x="411480" y="4139341"/>
            <a:ext cx="6492240" cy="1700784"/>
          </a:xfrm>
          <a:prstGeom prst="rect">
            <a:avLst/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7" name="text_160"/>
          <p:cNvSpPr txBox="1"/>
          <p:nvPr/>
        </p:nvSpPr>
        <p:spPr>
          <a:xfrm>
            <a:off x="502920" y="4212493"/>
            <a:ext cx="6309360" cy="4114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研究问题</a:t>
            </a:r>
            <a:endParaRPr lang="en-US" sz="2000" dirty="0"/>
          </a:p>
        </p:txBody>
      </p:sp>
      <p:sp>
        <p:nvSpPr>
          <p:cNvPr id="8" name="text_161"/>
          <p:cNvSpPr txBox="1"/>
          <p:nvPr/>
        </p:nvSpPr>
        <p:spPr>
          <a:xfrm>
            <a:off x="502920" y="4642261"/>
            <a:ext cx="6309360" cy="10068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发文部门和政策主题在网络中的位置，是否影响政策</a:t>
            </a:r>
            <a:r>
              <a:rPr lang="zh-CN" altLang="en-US" sz="1600" b="1" dirty="0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</a:t>
            </a:r>
            <a:r>
              <a:rPr lang="en-US" sz="1600" b="1" dirty="0" err="1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的扩散程度</a:t>
            </a:r>
            <a:r>
              <a:rPr lang="en-US" sz="1600" b="1" dirty="0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？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altLang="zh-CN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同一份政策文件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被记录在两个网络中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政策协作网络表征政府部门联合发布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</a:t>
            </a:r>
            <a:r>
              <a:rPr lang="en-US" altLang="zh-CN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主题网络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表征文件中的主题共现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altLang="zh-CN" sz="16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endParaRPr lang="en-US" sz="1600" dirty="0"/>
          </a:p>
        </p:txBody>
      </p:sp>
      <p:pic>
        <p:nvPicPr>
          <p:cNvPr id="9" name="figure_162" descr="/home/claude/figs3/Wang2023_Fig2_hypothe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965960"/>
            <a:ext cx="4645152" cy="1919329"/>
          </a:xfrm>
          <a:prstGeom prst="rect">
            <a:avLst/>
          </a:prstGeom>
        </p:spPr>
      </p:pic>
      <p:sp>
        <p:nvSpPr>
          <p:cNvPr id="10" name="text_163"/>
          <p:cNvSpPr txBox="1"/>
          <p:nvPr/>
        </p:nvSpPr>
        <p:spPr>
          <a:xfrm>
            <a:off x="7975600" y="3898549"/>
            <a:ext cx="2286000" cy="238655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研究框架与四个假设｜Fig</a:t>
            </a: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 2</a:t>
            </a:r>
            <a:endParaRPr lang="en-US" sz="1100" dirty="0"/>
          </a:p>
        </p:txBody>
      </p:sp>
      <p:sp>
        <p:nvSpPr>
          <p:cNvPr id="11" name="shape_164"/>
          <p:cNvSpPr/>
          <p:nvPr/>
        </p:nvSpPr>
        <p:spPr>
          <a:xfrm>
            <a:off x="7132320" y="4389120"/>
            <a:ext cx="4645152" cy="2204720"/>
          </a:xfrm>
          <a:prstGeom prst="roundRect">
            <a:avLst>
              <a:gd name="adj" fmla="val 3774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" name="text_165"/>
          <p:cNvSpPr txBox="1"/>
          <p:nvPr/>
        </p:nvSpPr>
        <p:spPr>
          <a:xfrm>
            <a:off x="7205472" y="4443984"/>
            <a:ext cx="4483608" cy="21498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H1 </a:t>
            </a:r>
            <a:r>
              <a:rPr lang="en-US" sz="14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关键部门：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居于协作网络中心，信息多、权威高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政策更易被引用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H2 </a:t>
            </a:r>
            <a:r>
              <a:rPr lang="en-US" sz="14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桥梁部门：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连接互不往来的部门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能获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取更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多样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连接过多则精力分散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，信息优势下降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（倒U形）；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H3 </a:t>
            </a:r>
            <a:r>
              <a:rPr lang="en-US" sz="14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核心主题：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居于主题网络中心，易与其他主题组合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</a:t>
            </a: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政策更易被引用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H4 桥梁主题：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连接原本不相连的主题，组合潜力更大，政策更易被引用。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166"/>
          <p:cNvSpPr/>
          <p:nvPr/>
        </p:nvSpPr>
        <p:spPr>
          <a:xfrm>
            <a:off x="365760" y="987552"/>
            <a:ext cx="11457432" cy="56692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167"/>
          <p:cNvSpPr txBox="1"/>
          <p:nvPr/>
        </p:nvSpPr>
        <p:spPr>
          <a:xfrm>
            <a:off x="457200" y="1024128"/>
            <a:ext cx="768096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研究方法：变量与模型</a:t>
            </a:r>
            <a:endParaRPr lang="en-US" sz="2000" dirty="0"/>
          </a:p>
        </p:txBody>
      </p:sp>
      <p:sp>
        <p:nvSpPr>
          <p:cNvPr id="4" name="text_168"/>
          <p:cNvSpPr txBox="1"/>
          <p:nvPr/>
        </p:nvSpPr>
        <p:spPr>
          <a:xfrm>
            <a:off x="8229600" y="1024128"/>
            <a:ext cx="3502152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2008—2017年｜461份中央正式文件</a:t>
            </a:r>
            <a:endParaRPr lang="en-US" sz="1300" dirty="0"/>
          </a:p>
        </p:txBody>
      </p:sp>
      <p:pic>
        <p:nvPicPr>
          <p:cNvPr id="5" name="figure_169" descr="/home/claude/figs3/Wang2023_Fig3_work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3931920" cy="4015712"/>
          </a:xfrm>
          <a:prstGeom prst="rect">
            <a:avLst/>
          </a:prstGeom>
        </p:spPr>
      </p:pic>
      <p:sp>
        <p:nvSpPr>
          <p:cNvPr id="6" name="text_170"/>
          <p:cNvSpPr txBox="1"/>
          <p:nvPr/>
        </p:nvSpPr>
        <p:spPr>
          <a:xfrm>
            <a:off x="411480" y="5753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635" rIns="635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研究流程｜Fig</a:t>
            </a: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 3</a:t>
            </a:r>
            <a:endParaRPr lang="en-US" sz="1100" dirty="0"/>
          </a:p>
        </p:txBody>
      </p:sp>
      <p:graphicFrame>
        <p:nvGraphicFramePr>
          <p:cNvPr id="13" name="table_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580334"/>
              </p:ext>
            </p:extLst>
          </p:nvPr>
        </p:nvGraphicFramePr>
        <p:xfrm>
          <a:off x="4572000" y="1691640"/>
          <a:ext cx="7223760" cy="2962656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变量类型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变量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含义与度量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因变量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政策扩散程度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000000"/>
                          </a:solidFill>
                        </a:rPr>
                        <a:t>被引次数：被后来的政策、司法案例、期刊引用的次数（北大法宝</a:t>
                      </a: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）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44546A"/>
                          </a:solidFill>
                        </a:rPr>
                        <a:t>自变量（协作网络</a:t>
                      </a:r>
                      <a:r>
                        <a:rPr lang="zh-CN" altLang="en-US" sz="1250" b="1" dirty="0">
                          <a:solidFill>
                            <a:srgbClr val="44546A"/>
                          </a:solidFill>
                        </a:rPr>
                        <a:t>特征</a:t>
                      </a: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）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000000"/>
                          </a:solidFill>
                        </a:rPr>
                        <a:t>部门中心性</a:t>
                      </a: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；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000000"/>
                          </a:solidFill>
                        </a:rPr>
                        <a:t>部门结构洞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中心性用标准化度中心性；结构洞用2减Burt约束系数；取发文部门的平均值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44546A"/>
                          </a:solidFill>
                        </a:rPr>
                        <a:t>自变量（主题网络</a:t>
                      </a:r>
                      <a:r>
                        <a:rPr lang="zh-CN" altLang="en-US" sz="1250" b="1" dirty="0">
                          <a:solidFill>
                            <a:srgbClr val="44546A"/>
                          </a:solidFill>
                        </a:rPr>
                        <a:t>特征</a:t>
                      </a: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）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000000"/>
                          </a:solidFill>
                        </a:rPr>
                        <a:t>主题中心性</a:t>
                      </a: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；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 err="1">
                          <a:solidFill>
                            <a:srgbClr val="000000"/>
                          </a:solidFill>
                        </a:rPr>
                        <a:t>主题结构洞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计算方法同上，取文件关键主题的平均值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控制变量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文件与部门特征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联合发文部门数、部门级别、部门过去5年发文量、标题长度、正文长度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模型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负二项回归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被引次数为计数变量，且方差远大于均值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_172"/>
          <p:cNvSpPr/>
          <p:nvPr/>
        </p:nvSpPr>
        <p:spPr>
          <a:xfrm>
            <a:off x="4556760" y="4901184"/>
            <a:ext cx="7223760" cy="1026160"/>
          </a:xfrm>
          <a:prstGeom prst="roundRect">
            <a:avLst>
              <a:gd name="adj" fmla="val 5333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9" name="text_173"/>
          <p:cNvSpPr txBox="1"/>
          <p:nvPr/>
        </p:nvSpPr>
        <p:spPr>
          <a:xfrm>
            <a:off x="4629912" y="4956048"/>
            <a:ext cx="6937248" cy="8778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数据与网络构建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北大法宝标题检索“能源”，保留法律、行政法规、部门规章三类正式文件，共461份；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协作网络按联合发文连线，主题网络用TextRank提取关键词、同文共现连线</a:t>
            </a: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174"/>
          <p:cNvSpPr/>
          <p:nvPr/>
        </p:nvSpPr>
        <p:spPr>
          <a:xfrm>
            <a:off x="365760" y="987552"/>
            <a:ext cx="11457432" cy="56692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175"/>
          <p:cNvSpPr txBox="1"/>
          <p:nvPr/>
        </p:nvSpPr>
        <p:spPr>
          <a:xfrm>
            <a:off x="457200" y="1024128"/>
            <a:ext cx="112471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研究结果</a:t>
            </a:r>
            <a:endParaRPr lang="en-US" sz="2000" dirty="0"/>
          </a:p>
        </p:txBody>
      </p:sp>
      <p:sp>
        <p:nvSpPr>
          <p:cNvPr id="4" name="shape_176"/>
          <p:cNvSpPr/>
          <p:nvPr/>
        </p:nvSpPr>
        <p:spPr>
          <a:xfrm>
            <a:off x="411480" y="1691640"/>
            <a:ext cx="5394960" cy="1344168"/>
          </a:xfrm>
          <a:prstGeom prst="roundRect">
            <a:avLst>
              <a:gd name="adj" fmla="val 4938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text_177"/>
          <p:cNvSpPr txBox="1"/>
          <p:nvPr/>
        </p:nvSpPr>
        <p:spPr>
          <a:xfrm>
            <a:off x="484632" y="1746504"/>
            <a:ext cx="5248656" cy="1199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</a:t>
            </a:r>
            <a:r>
              <a:rPr lang="zh-CN" alt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</a:t>
            </a: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</a:t>
            </a:r>
            <a:r>
              <a:rPr lang="zh-CN" alt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络特征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十年间参与能源政策的部门越来越多，合作越来越紧密</a:t>
            </a:r>
            <a:r>
              <a:rPr 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核心部门稳定：国家能源局、发改委、财政部始终居前三；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2013—2017年环境保护部进入前十</a:t>
            </a:r>
            <a:r>
              <a:rPr lang="zh-CN" alt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500" dirty="0"/>
          </a:p>
        </p:txBody>
      </p:sp>
      <p:sp>
        <p:nvSpPr>
          <p:cNvPr id="6" name="shape_178"/>
          <p:cNvSpPr/>
          <p:nvPr/>
        </p:nvSpPr>
        <p:spPr>
          <a:xfrm>
            <a:off x="411480" y="3291840"/>
            <a:ext cx="5394960" cy="2682240"/>
          </a:xfrm>
          <a:prstGeom prst="roundRect">
            <a:avLst>
              <a:gd name="adj" fmla="val 2410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7" name="text_179"/>
          <p:cNvSpPr txBox="1"/>
          <p:nvPr/>
        </p:nvSpPr>
        <p:spPr>
          <a:xfrm>
            <a:off x="502920" y="3337560"/>
            <a:ext cx="52120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</a:t>
            </a:r>
            <a:r>
              <a:rPr lang="zh-CN" alt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共现</a:t>
            </a:r>
            <a:r>
              <a:rPr 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</a:t>
            </a:r>
            <a:r>
              <a:rPr lang="zh-CN" altLang="en-US" sz="15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络特征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核心主题始终是能源、电力、政策法规；关键词排名变化如下</a:t>
            </a:r>
            <a:endParaRPr lang="en-US" sz="1500" dirty="0"/>
          </a:p>
        </p:txBody>
      </p:sp>
      <p:graphicFrame>
        <p:nvGraphicFramePr>
          <p:cNvPr id="14" name="table_1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074041"/>
              </p:ext>
            </p:extLst>
          </p:nvPr>
        </p:nvGraphicFramePr>
        <p:xfrm>
          <a:off x="594360" y="4035552"/>
          <a:ext cx="5029200" cy="14630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主题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2008—2012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4546A"/>
                          </a:solidFill>
                        </a:rPr>
                        <a:t>2013—2017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安全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前十以外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第3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监管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第10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第4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生产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前十以外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</a:rPr>
                        <a:t>第8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财政政策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第2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</a:rPr>
                        <a:t>前十以外</a:t>
                      </a:r>
                      <a:endParaRPr lang="en-US" sz="1250" dirty="0"/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_181"/>
          <p:cNvSpPr txBox="1"/>
          <p:nvPr/>
        </p:nvSpPr>
        <p:spPr>
          <a:xfrm>
            <a:off x="502920" y="5544312"/>
            <a:ext cx="52120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86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从关键词排名看，重心由财政扶持转向安全和监管；</a:t>
            </a:r>
            <a:endParaRPr lang="en-US" sz="1600" dirty="0"/>
          </a:p>
        </p:txBody>
      </p:sp>
      <p:sp>
        <p:nvSpPr>
          <p:cNvPr id="11" name="text_183"/>
          <p:cNvSpPr txBox="1"/>
          <p:nvPr/>
        </p:nvSpPr>
        <p:spPr>
          <a:xfrm>
            <a:off x="6080760" y="1691640"/>
            <a:ext cx="5715000" cy="4114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回归结果（因变量：政策被引次数）</a:t>
            </a:r>
            <a:endParaRPr lang="en-US" sz="1600" dirty="0"/>
          </a:p>
        </p:txBody>
      </p:sp>
      <p:sp>
        <p:nvSpPr>
          <p:cNvPr id="8" name="text_186"/>
          <p:cNvSpPr txBox="1"/>
          <p:nvPr/>
        </p:nvSpPr>
        <p:spPr>
          <a:xfrm>
            <a:off x="6080760" y="2213864"/>
            <a:ext cx="5742432" cy="1427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部门中心性越高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政策被引次数越多（假设1成立）；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部门结构洞与被引次数呈倒U形：适度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</a:t>
            </a:r>
            <a:r>
              <a:rPr lang="en-US" altLang="zh-CN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时被引次数增加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</a:t>
            </a:r>
            <a:r>
              <a:rPr lang="en-US" altLang="zh-CN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过多时被引次数减少（假设2成立）；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主题中心性越高，政策被引次数越多（假设3成立）；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主题结构洞对被引次数无显著影响（假设4不成立）。</a:t>
            </a:r>
            <a:endParaRPr lang="en-US" sz="1600" dirty="0"/>
          </a:p>
        </p:txBody>
      </p:sp>
      <p:sp>
        <p:nvSpPr>
          <p:cNvPr id="23" name="text_195"/>
          <p:cNvSpPr txBox="1"/>
          <p:nvPr/>
        </p:nvSpPr>
        <p:spPr>
          <a:xfrm>
            <a:off x="6537960" y="4279392"/>
            <a:ext cx="525780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hape_197"/>
          <p:cNvSpPr/>
          <p:nvPr/>
        </p:nvSpPr>
        <p:spPr>
          <a:xfrm>
            <a:off x="6080760" y="3936492"/>
            <a:ext cx="5715000" cy="800100"/>
          </a:xfrm>
          <a:prstGeom prst="roundRect">
            <a:avLst>
              <a:gd name="adj" fmla="val 10667"/>
            </a:avLst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26" name="text_198"/>
          <p:cNvSpPr txBox="1"/>
          <p:nvPr/>
        </p:nvSpPr>
        <p:spPr>
          <a:xfrm>
            <a:off x="6263640" y="4018280"/>
            <a:ext cx="5257800" cy="5760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发文部门和内容主题均影响扩散程度，</a:t>
            </a:r>
            <a:r>
              <a:rPr lang="en-US" sz="16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</a:t>
            </a:r>
            <a:r>
              <a:rPr lang="zh-CN" alt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</a:t>
            </a:r>
            <a:r>
              <a:rPr lang="en-US" sz="16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看地位与协调</a:t>
            </a:r>
            <a:r>
              <a:rPr lang="zh-CN" alt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</a:t>
            </a:r>
            <a:r>
              <a:rPr lang="en-US" sz="16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负担</a:t>
            </a:r>
            <a:r>
              <a:rPr lang="zh-CN" alt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情况</a:t>
            </a: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6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</a:t>
            </a:r>
            <a:r>
              <a:rPr lang="zh-CN" alt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</a:t>
            </a:r>
            <a:r>
              <a:rPr lang="en-US" sz="16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看是否处</a:t>
            </a:r>
            <a:r>
              <a:rPr lang="zh-CN" alt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于</a:t>
            </a:r>
            <a:r>
              <a:rPr lang="en-US" sz="16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主流议题上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_199"/>
          <p:cNvSpPr/>
          <p:nvPr/>
        </p:nvSpPr>
        <p:spPr>
          <a:xfrm>
            <a:off x="365760" y="987552"/>
            <a:ext cx="11457432" cy="566928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" name="text_200"/>
          <p:cNvSpPr txBox="1"/>
          <p:nvPr/>
        </p:nvSpPr>
        <p:spPr>
          <a:xfrm>
            <a:off x="457200" y="1024128"/>
            <a:ext cx="112471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节能服务产业</a:t>
            </a:r>
            <a:r>
              <a:rPr lang="zh-CN" altLang="en-US" sz="20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的政策扩散特征</a:t>
            </a:r>
            <a:endParaRPr lang="en-US" sz="2000" dirty="0"/>
          </a:p>
        </p:txBody>
      </p:sp>
      <p:sp>
        <p:nvSpPr>
          <p:cNvPr id="4" name="shape_201"/>
          <p:cNvSpPr/>
          <p:nvPr/>
        </p:nvSpPr>
        <p:spPr>
          <a:xfrm>
            <a:off x="411480" y="1691640"/>
            <a:ext cx="5532120" cy="2880360"/>
          </a:xfrm>
          <a:prstGeom prst="roundRect">
            <a:avLst>
              <a:gd name="adj" fmla="val 1860"/>
            </a:avLst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text_202"/>
          <p:cNvSpPr txBox="1"/>
          <p:nvPr/>
        </p:nvSpPr>
        <p:spPr>
          <a:xfrm>
            <a:off x="484632" y="1746504"/>
            <a:ext cx="5385816" cy="282549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部门协作</a:t>
            </a:r>
            <a:endParaRPr lang="en-US" sz="1400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联合发文：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2010年合同能源管理意见由发改、财政、人民银行、税务四部门共同提出；</a:t>
            </a:r>
            <a:endParaRPr lang="en-US" sz="1600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联合管理：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财政奖励由发改、财政部门共同管理，覆盖备案、申报、审核、拨付、监督；</a:t>
            </a:r>
            <a:endParaRPr lang="en-US" sz="1600" dirty="0"/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核心部门：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掌握规划和财政资源的部门协同能力更强，与文献三中发改委、财政部居于网络中心一致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600" dirty="0"/>
          </a:p>
        </p:txBody>
      </p:sp>
      <p:sp>
        <p:nvSpPr>
          <p:cNvPr id="6" name="shape_203"/>
          <p:cNvSpPr/>
          <p:nvPr/>
        </p:nvSpPr>
        <p:spPr>
          <a:xfrm>
            <a:off x="6172200" y="1691640"/>
            <a:ext cx="5623560" cy="2880360"/>
          </a:xfrm>
          <a:prstGeom prst="roundRect">
            <a:avLst>
              <a:gd name="adj" fmla="val 186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7" name="text_204"/>
          <p:cNvSpPr txBox="1"/>
          <p:nvPr/>
        </p:nvSpPr>
        <p:spPr>
          <a:xfrm>
            <a:off x="6245352" y="1746504"/>
            <a:ext cx="5477256" cy="2825496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</a:t>
            </a: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政策主题</a:t>
            </a:r>
            <a:endParaRPr lang="en-US" sz="1600" b="1" dirty="0">
              <a:solidFill>
                <a:srgbClr val="44546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b="1" dirty="0" err="1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持续核心：</a:t>
            </a:r>
            <a:r>
              <a:rPr lang="en-US" sz="1600" dirty="0" err="1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合同能源管理与节能目标贯穿各个阶段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主题上升：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2016年后取消审核备案、强化监管、信用管理与标准修订成为主线；2021年后双碳目标、公共机构能源费用托管、综合能源服务成为新主题；</a:t>
            </a:r>
            <a:endParaRPr lang="en-US" sz="16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主题下降：</a:t>
            </a: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2015年前后国家层面的普遍性奖励逐步退出，财政支持转向重点领域和地方专项。</a:t>
            </a:r>
            <a:endParaRPr lang="en-US" sz="1600" dirty="0"/>
          </a:p>
        </p:txBody>
      </p:sp>
      <p:sp>
        <p:nvSpPr>
          <p:cNvPr id="8" name="shape_205"/>
          <p:cNvSpPr/>
          <p:nvPr/>
        </p:nvSpPr>
        <p:spPr>
          <a:xfrm>
            <a:off x="411480" y="4709160"/>
            <a:ext cx="11384280" cy="548640"/>
          </a:xfrm>
          <a:prstGeom prst="roundRect">
            <a:avLst>
              <a:gd name="adj" fmla="val 13333"/>
            </a:avLst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9" name="text_206"/>
          <p:cNvSpPr txBox="1"/>
          <p:nvPr/>
        </p:nvSpPr>
        <p:spPr>
          <a:xfrm>
            <a:off x="484632" y="4764024"/>
            <a:ext cx="11237976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节能服务政策依靠发改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委</a:t>
            </a: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sz="15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财政等核心部门联合</a:t>
            </a:r>
            <a:r>
              <a:rPr lang="zh-CN" alt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发文</a:t>
            </a:r>
            <a:r>
              <a:rPr lang="en-US" sz="15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推动，政策主题从财政扶持逐步转向标准、信用与监管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_2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842421"/>
              </p:ext>
            </p:extLst>
          </p:nvPr>
        </p:nvGraphicFramePr>
        <p:xfrm>
          <a:off x="426719" y="1102360"/>
          <a:ext cx="11384280" cy="270662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546A"/>
                          </a:solidFill>
                        </a:rPr>
                        <a:t>文献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546A"/>
                          </a:solidFill>
                        </a:rPr>
                        <a:t>研究层面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546A"/>
                          </a:solidFill>
                        </a:rPr>
                        <a:t>研究方法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546A"/>
                          </a:solidFill>
                        </a:rPr>
                        <a:t>主要结论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546A"/>
                          </a:solidFill>
                        </a:rPr>
                        <a:t>对后续研究的意义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Hu 等 (2023)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Energy Economics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政策工具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文本量化、关联规则挖掘、协同效应检验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用得最多的工具强度最低；命令控制型组合正向协同，市场型组合负向协同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量化工具强度、检验工具协同；区分专门与非专门政策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Song 等 (2024)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J. Cleaner Production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政策体系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LDA主题模型、PMC-TE效力评价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供给型长期主导，2017年后环境型上升；从产业布局到市场响应，再到环境治理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从文本识别工具类型，划分政策演化阶段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Wang 和 Zhang (2023)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Technol. Forecast. Soc. Change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政策扩散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协作网络与主题网络、负二项回归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核心部门的政策被引更多，跨部门协调过多则被引减少；核心主题更易被沿用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从部门协作与政策主题两个维度分析扩散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hape_208"/>
          <p:cNvSpPr/>
          <p:nvPr/>
        </p:nvSpPr>
        <p:spPr>
          <a:xfrm>
            <a:off x="411480" y="4033520"/>
            <a:ext cx="5577840" cy="1794270"/>
          </a:xfrm>
          <a:prstGeom prst="roundRect">
            <a:avLst>
              <a:gd name="adj" fmla="val 4211"/>
            </a:avLst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4" name="text_209"/>
          <p:cNvSpPr txBox="1"/>
          <p:nvPr/>
        </p:nvSpPr>
        <p:spPr>
          <a:xfrm>
            <a:off x="499871" y="4110736"/>
            <a:ext cx="5398008" cy="1682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核心观点一</a:t>
            </a: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r>
              <a:rPr lang="zh-CN" alt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发文</a:t>
            </a:r>
            <a:r>
              <a:rPr lang="en-US" sz="16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数量不等于政策作用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用得最多的工具</a:t>
            </a:r>
            <a:r>
              <a:rPr lang="zh-CN" alt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反而</a:t>
            </a:r>
            <a:r>
              <a:rPr lang="en-US" sz="1400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强度最低，市场型工具叠加反而负向协同</a:t>
            </a: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跨部门</a:t>
            </a:r>
            <a:r>
              <a:rPr lang="zh-CN" alt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</a:t>
            </a:r>
            <a:r>
              <a:rPr lang="en-US" sz="1600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协调过多反而</a:t>
            </a:r>
            <a:r>
              <a:rPr lang="zh-CN" alt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不影响政策扩散</a:t>
            </a: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00" dirty="0"/>
          </a:p>
        </p:txBody>
      </p:sp>
      <p:sp>
        <p:nvSpPr>
          <p:cNvPr id="5" name="shape_210"/>
          <p:cNvSpPr/>
          <p:nvPr/>
        </p:nvSpPr>
        <p:spPr>
          <a:xfrm>
            <a:off x="6233159" y="4055872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FFF2CC"/>
          </a:solidFill>
          <a:ln w="12700">
            <a:solidFill>
              <a:srgbClr val="203864"/>
            </a:solidFill>
            <a:prstDash val="solid"/>
          </a:ln>
        </p:spPr>
      </p:sp>
      <p:sp>
        <p:nvSpPr>
          <p:cNvPr id="6" name="text_211"/>
          <p:cNvSpPr txBox="1"/>
          <p:nvPr/>
        </p:nvSpPr>
        <p:spPr>
          <a:xfrm>
            <a:off x="6306311" y="4110736"/>
            <a:ext cx="5431536" cy="16276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核心观点二：政策重心随产业发展而调整</a:t>
            </a:r>
            <a:endParaRPr lang="en-US" sz="14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绿色产业政策由产业布局转向环境治理</a:t>
            </a: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能源政策主题由财政政策转向监管与安全</a:t>
            </a: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endParaRPr lang="en-US" sz="1400" dirty="0"/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由示范与目标约束、财政奖励，转向标准、信用与监管</a:t>
            </a:r>
            <a:r>
              <a:rPr lang="zh-CN" altLang="en-US" sz="13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zh-CN" alt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由创造市场转向塑造规则；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14"/>
          <p:cNvSpPr txBox="1"/>
          <p:nvPr/>
        </p:nvSpPr>
        <p:spPr>
          <a:xfrm>
            <a:off x="457200" y="1920240"/>
            <a:ext cx="11277295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从创造市场到塑造规则：</a:t>
            </a:r>
            <a:endParaRPr lang="en-US" sz="3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节能服务产业政策工具的演化研究</a:t>
            </a:r>
            <a:endParaRPr lang="en-US" sz="3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恳请各位老师批评指正！</a:t>
            </a:r>
            <a:endParaRPr lang="en-US" sz="3400" dirty="0"/>
          </a:p>
        </p:txBody>
      </p:sp>
      <p:sp>
        <p:nvSpPr>
          <p:cNvPr id="3" name="text_215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汇报人：夏昆仑</a:t>
            </a:r>
            <a:endParaRPr lang="en-US" sz="2000" dirty="0"/>
          </a:p>
        </p:txBody>
      </p:sp>
      <p:sp>
        <p:nvSpPr>
          <p:cNvPr id="4" name="text_216"/>
          <p:cNvSpPr txBox="1"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2026/10/20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U Group Meeting">
  <a:themeElements>
    <a:clrScheme name="SEU Group Meeting">
      <a:dk1>
        <a:srgbClr val="000000"/>
      </a:dk1>
      <a:lt1>
        <a:srgbClr val="FFFFFF"/>
      </a:lt1>
      <a:dk2>
        <a:srgbClr val="44546A"/>
      </a:dk2>
      <a:lt2>
        <a:srgbClr val="D6DCE5"/>
      </a:lt2>
      <a:accent1>
        <a:srgbClr val="203864"/>
      </a:accent1>
      <a:accent2>
        <a:srgbClr val="F9CF00"/>
      </a:accent2>
      <a:accent3>
        <a:srgbClr val="ADB9CA"/>
      </a:accent3>
      <a:accent4>
        <a:srgbClr val="FFF2CC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U Group Meeting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3578</Words>
  <Application>Microsoft Office PowerPoint</Application>
  <PresentationFormat>宽屏</PresentationFormat>
  <Paragraphs>319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微软雅黑</vt:lpstr>
      <vt:lpstr>Arial</vt:lpstr>
      <vt:lpstr>Times New Roman</vt:lpstr>
      <vt:lpstr>Wingdings</vt:lpstr>
      <vt:lpstr>SEU Group Meeting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从创造市场到塑造规则：节能服务产业政策工具的演化研究</dc:title>
  <dc:subject>PptxGenJS Presentation</dc:subject>
  <dc:creator>夏昆仑</dc:creator>
  <cp:lastModifiedBy>昆仑 夏</cp:lastModifiedBy>
  <cp:revision>2</cp:revision>
  <dcterms:created xsi:type="dcterms:W3CDTF">2026-10-19T02:58:36Z</dcterms:created>
  <dcterms:modified xsi:type="dcterms:W3CDTF">2026-10-19T14:04:26Z</dcterms:modified>
</cp:coreProperties>
</file>